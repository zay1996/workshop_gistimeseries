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29"/>
  </p:notesMasterIdLst>
  <p:sldIdLst>
    <p:sldId id="741" r:id="rId5"/>
    <p:sldId id="753" r:id="rId6"/>
    <p:sldId id="747" r:id="rId7"/>
    <p:sldId id="748" r:id="rId8"/>
    <p:sldId id="426" r:id="rId9"/>
    <p:sldId id="424" r:id="rId10"/>
    <p:sldId id="715" r:id="rId11"/>
    <p:sldId id="739" r:id="rId12"/>
    <p:sldId id="745" r:id="rId13"/>
    <p:sldId id="718" r:id="rId14"/>
    <p:sldId id="740" r:id="rId15"/>
    <p:sldId id="722" r:id="rId16"/>
    <p:sldId id="411" r:id="rId17"/>
    <p:sldId id="752" r:id="rId18"/>
    <p:sldId id="412" r:id="rId19"/>
    <p:sldId id="418" r:id="rId20"/>
    <p:sldId id="421" r:id="rId21"/>
    <p:sldId id="407" r:id="rId22"/>
    <p:sldId id="725" r:id="rId23"/>
    <p:sldId id="727" r:id="rId24"/>
    <p:sldId id="408" r:id="rId25"/>
    <p:sldId id="749" r:id="rId26"/>
    <p:sldId id="750" r:id="rId27"/>
    <p:sldId id="75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C00"/>
    <a:srgbClr val="DF73FF"/>
    <a:srgbClr val="E69800"/>
    <a:srgbClr val="0084A8"/>
    <a:srgbClr val="686868"/>
    <a:srgbClr val="E1E1E1"/>
    <a:srgbClr val="00A9E6"/>
    <a:srgbClr val="51626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911" autoAdjust="0"/>
  </p:normalViewPr>
  <p:slideViewPr>
    <p:cSldViewPr snapToGrid="0">
      <p:cViewPr varScale="1">
        <p:scale>
          <a:sx n="80" d="100"/>
          <a:sy n="80" d="100"/>
        </p:scale>
        <p:origin x="739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E7607-5240-41BF-B925-07982936DD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15072-D71E-4D34-866A-1B22309AD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05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7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01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03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49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3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3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3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08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</a:t>
            </a:r>
            <a:r>
              <a:rPr lang="en-US" dirty="0" err="1"/>
              <a:t>dynamicpatch</a:t>
            </a:r>
            <a:r>
              <a:rPr lang="en-US" dirty="0"/>
              <a:t> differ from traditional GIS overlay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8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41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31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72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13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13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94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875"/>
              </a:lnSpc>
            </a:pP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03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421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13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064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73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+ git installation step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31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919A-2B0C-089B-6688-68FB2AD1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3C5A8-8134-1EA7-7E1B-27E153045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9B486-7CEC-9CF0-C775-AE6947586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67CE0-F095-D4A9-8B73-3FE7975A4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18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5072-D71E-4D34-866A-1B22309AD79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95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0746-A918-40A7-977E-ECD504FD0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06E38-6524-481D-962D-9E90C0B2C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F2B9C-2D0F-4F96-8502-8525F6BD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CC98B-EB0F-4D54-8BB8-E3E4CB5B58F4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23333-3F8E-45AC-8DDD-3941E29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479B6-343B-48DD-80EA-F2387F20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7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36E7-9D09-4750-A9FF-709EADE8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CD34-4ED7-4631-9A68-072597162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C3DD1-0D2D-4041-833A-9EB806D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24EE-30C3-4903-9708-31BA15836EFF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F60B-7D51-4A42-8099-6D63175A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696AF-6458-482C-ABE4-F70B64B8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CA92-2C45-4ED5-B893-D4AEB9365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7DFF7-5DFA-48A6-8AF2-00137B388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B3C89-8841-42FC-9D49-BBCFD629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EA07A-9A95-4DEE-88E4-56680CDA3F37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22DF-E998-4B1F-94A3-459462BF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1FB5B-26D5-4CAF-BCB9-54D59E9C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ECCC-DC4A-45FE-8C0B-1495186F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3481-002F-42F8-A177-6EB0DBD85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B0841-BCF4-4923-9559-90332538A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B812E-46A8-4F87-9522-92E0D82A7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8DEEE-6AEE-4106-8D96-12C3D974F3A2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2D00E-3A6A-4403-8149-29678B6E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611A1-C6C4-40B4-A3C0-930AA05E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6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C94D-F01C-4E9B-B931-79C4FCC6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D9539-69F7-4113-875C-B0FDCCFA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CE64C-DB51-4080-9E3E-031FE5902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7A7EC-0C3E-48DC-A5A3-1C550002B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6765D-3D83-4084-8C5B-FA7557D5C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CDEF6-B199-4071-89D1-18ABF609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40F5-7C0B-4D35-B606-BF52E6121831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AD963-7C79-48D3-B5B5-D5CC8DA2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B014F-748C-4AEF-9816-405FF518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7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EDCD-C027-4042-96CD-896F9C74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4AA80C-4EAF-4D32-B2EE-ABD7A347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234-42B9-478F-A0E4-D0D7D6B9E697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D11A9-EBB8-4484-9095-828D2617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6240B-119F-42E2-9D8E-3243754C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0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50295-F3DC-4ED9-98E2-C70173DD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8425F-FFDA-46DA-9124-8CF5E4B9B39E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C25B2-D1A4-4DEF-96B4-D4D24A9F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F8D57-303D-43DC-A4EA-04B35C85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8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4DBE-9C31-48B8-BAEA-1DB0410A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DDFE-346C-4002-A3F9-ABA11B85B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E2B87-DE26-48F3-95C0-405A389B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AB05F-7937-4756-806A-A3B37B21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38C61-90F0-40D9-8BB1-EF923A602082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700BF-8C79-4A6E-912C-B4D08FED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514A0-6548-419C-9A46-084D5322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7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2A32-58C6-4BD0-B4CD-E0CF0CA4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FC8AD-69C0-4BF9-8CA7-C67DC0265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D97EA-2E4E-4590-877B-B59523ECF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F4E96-CCCA-455B-BF24-3083C537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A4B98-E334-480B-84BF-BAECDBE84A4B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28FDF-C15E-4B23-B916-41C0DDA8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F35B8-8C2D-4975-AC22-A07435EE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7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8162-8B6B-4337-B617-C2C511EE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9072A-B4EB-4773-8D0E-F42AF43EC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1C7A3-1DC8-42E5-B0F8-9E70A947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5A78-EF44-4583-9176-B695BFEE3A66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6A9F8-5AD4-41A1-8CAB-018A9733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0C5CF-9C09-45C2-A399-9CD84951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53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F1E27-3858-4CDB-B86B-891A7CE1E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26A3F-0E43-458F-90E5-0B1157310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6000D-577F-4B4D-B2A7-D2584467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66FF-3AAD-4DA4-B648-42034EAE0AD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F4FBA-A201-499E-9C02-AA3437E7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63A6-784A-4739-B47E-E19D6B61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3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1192D4-3DEB-49BB-8F09-91031D57C7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6224" cy="6858000"/>
          </a:xfrm>
          <a:solidFill>
            <a:schemeClr val="accent1"/>
          </a:solidFill>
        </p:spPr>
        <p:txBody>
          <a:bodyPr tIns="1280160" anchor="ctr">
            <a:noAutofit/>
          </a:bodyPr>
          <a:lstStyle>
            <a:lvl1pPr algn="ctr">
              <a:defRPr sz="2000"/>
            </a:lvl1pPr>
          </a:lstStyle>
          <a:p>
            <a:r>
              <a:rPr lang="en-US" dirty="0"/>
              <a:t>Click to insert image here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94C4FA-8597-7449-A0F1-38E8A1C6B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1018" y="1526016"/>
            <a:ext cx="12188952" cy="2031324"/>
          </a:xfrm>
          <a:solidFill>
            <a:schemeClr val="tx1">
              <a:lumMod val="85000"/>
              <a:lumOff val="15000"/>
              <a:alpha val="60000"/>
            </a:schemeClr>
          </a:solidFill>
        </p:spPr>
        <p:txBody>
          <a:bodyPr lIns="868680" tIns="91440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099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0592B-EFC1-4162-B2E4-87ADDF60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A406E-4373-4E00-B355-061DAAEF8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6D2D6-C577-4CC7-8A03-A2D675D33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2FA85-13F1-4739-A691-BA2D2E4289B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EC6F-6FF5-4B01-A002-07138188A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E4B9-ED64-417F-9616-4CC5B0833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91A0B-866F-4808-971F-0FC85A213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9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doi.org/10.1007/s10980-025-02120-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iff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tiff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10980-025-02120-1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anaconda/install/" TargetMode="External"/><Relationship Id="rId7" Type="http://schemas.openxmlformats.org/officeDocument/2006/relationships/hyperlink" Target="https://doi.org/10.1007/s10980-025-02120-1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-scm.com/downloads" TargetMode="External"/><Relationship Id="rId5" Type="http://schemas.openxmlformats.org/officeDocument/2006/relationships/hyperlink" Target="https://docs.anaconda.com/distro-or-miniconda/" TargetMode="External"/><Relationship Id="rId4" Type="http://schemas.openxmlformats.org/officeDocument/2006/relationships/hyperlink" Target="https://docs.anaconda.com/miniconda/miniconda-install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7/s10980-025-02120-1" TargetMode="Externa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980-025-02120-1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DF1FC8D-E11E-457F-8CBB-CE537A8B0626}"/>
              </a:ext>
            </a:extLst>
          </p:cNvPr>
          <p:cNvSpPr txBox="1">
            <a:spLocks/>
          </p:cNvSpPr>
          <p:nvPr/>
        </p:nvSpPr>
        <p:spPr>
          <a:xfrm>
            <a:off x="201395" y="3602038"/>
            <a:ext cx="11602677" cy="10191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Aiyin Zhang</a:t>
            </a:r>
          </a:p>
          <a:p>
            <a:pPr marL="0" indent="0" algn="ctr">
              <a:buNone/>
            </a:pPr>
            <a:r>
              <a:rPr lang="en-US" sz="2000" dirty="0"/>
              <a:t>AiZhang@</a:t>
            </a:r>
            <a:r>
              <a:rPr lang="en-US" altLang="zh-CN" sz="2000" dirty="0"/>
              <a:t>clarku.edu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Authors: Aiyin Zhang, Robert Gilmore Pontius Jr, Thomas </a:t>
            </a:r>
            <a:r>
              <a:rPr lang="en-US" sz="2000" dirty="0" err="1"/>
              <a:t>Bilintoh</a:t>
            </a:r>
            <a:r>
              <a:rPr lang="en-US" sz="2000" dirty="0"/>
              <a:t>, Florencia Sangermano, John Rogan 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3FD48CF-EC76-417C-BCDD-BFDB5531F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3542" y="5580120"/>
            <a:ext cx="1029976" cy="1441968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7ACE4-07BD-403A-B94B-A855E9961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96" y="5805455"/>
            <a:ext cx="940347" cy="9446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F6FE4-E2F3-423F-B3F1-85BD49D456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8102"/>
          <a:stretch/>
        </p:blipFill>
        <p:spPr>
          <a:xfrm>
            <a:off x="7543242" y="5663468"/>
            <a:ext cx="2198369" cy="1086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828D1D-5546-45C9-88C8-ED4F4C570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249" y="5901110"/>
            <a:ext cx="3819062" cy="753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FF59E7-7F19-43B3-ACFE-1B1366AFCAA1}"/>
              </a:ext>
            </a:extLst>
          </p:cNvPr>
          <p:cNvSpPr txBox="1"/>
          <p:nvPr/>
        </p:nvSpPr>
        <p:spPr>
          <a:xfrm>
            <a:off x="0" y="2082676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DynamicPATCH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2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and Software for 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Spatially Explicit Dynamic Patch Transition Characterization</a:t>
            </a:r>
            <a:endParaRPr lang="en-US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DA6FD-CAFE-4FBD-BE13-C3ACF6266DE4}"/>
              </a:ext>
            </a:extLst>
          </p:cNvPr>
          <p:cNvSpPr txBox="1"/>
          <p:nvPr/>
        </p:nvSpPr>
        <p:spPr>
          <a:xfrm>
            <a:off x="-46634" y="-28270"/>
            <a:ext cx="12285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Zhang, Aiyin, Robert Gilmore Pontius Jr, Thomas Mumuni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Bilintoh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Florencia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Sangermano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and John Rogan. 2025. “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DynamicPATCH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: Method and Software for Spatially Explicit Dynamic Patch Transition Characterization.” 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Landscape Ecology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 40 (7): 132.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https://doi.org/10.1007/s10980-025-02120-1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915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92F859-53FA-4C02-B1E8-7251F78BDD82}"/>
              </a:ext>
            </a:extLst>
          </p:cNvPr>
          <p:cNvSpPr txBox="1"/>
          <p:nvPr/>
        </p:nvSpPr>
        <p:spPr>
          <a:xfrm>
            <a:off x="593199" y="804358"/>
            <a:ext cx="11088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a typeface="DengXian" panose="02010600030101010101" pitchFamily="2" charset="-122"/>
              </a:rPr>
              <a:t>Study area: Long Term Ecological Research Network’s  Plum Island Ecosystems (PIE-LTER)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5E2BBB-6AFD-B1D4-3977-A5A26B85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2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BABAB5-08B7-4059-BE88-C4E7D914B955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04DD73B-8993-43F2-9692-D7719340DB7C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0545BC-8BB4-4587-A8E3-DEC22EB45D4B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5AC749-9D22-4B50-B2B6-3695753741DF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E434F6F-1F04-4F74-A9E1-6873213619E6}"/>
              </a:ext>
            </a:extLst>
          </p:cNvPr>
          <p:cNvGrpSpPr/>
          <p:nvPr/>
        </p:nvGrpSpPr>
        <p:grpSpPr>
          <a:xfrm>
            <a:off x="41656" y="4214394"/>
            <a:ext cx="5235035" cy="2657599"/>
            <a:chOff x="231045" y="1515988"/>
            <a:chExt cx="5235035" cy="265759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63184F1-4A47-4B29-8892-9BE781173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045" y="1516585"/>
              <a:ext cx="5235035" cy="265700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1402B5-2571-45EB-84D5-3DB02D901625}"/>
                </a:ext>
              </a:extLst>
            </p:cNvPr>
            <p:cNvSpPr txBox="1"/>
            <p:nvPr/>
          </p:nvSpPr>
          <p:spPr>
            <a:xfrm>
              <a:off x="2223405" y="1515988"/>
              <a:ext cx="1209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Century Gothic" panose="020B0502020202020204" pitchFamily="34" charset="0"/>
                </a:rPr>
                <a:t>1971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E7C67A8-7799-41CD-A9C6-DEDBE5957AB7}"/>
              </a:ext>
            </a:extLst>
          </p:cNvPr>
          <p:cNvGrpSpPr/>
          <p:nvPr/>
        </p:nvGrpSpPr>
        <p:grpSpPr>
          <a:xfrm>
            <a:off x="5373063" y="4200401"/>
            <a:ext cx="5194396" cy="2657599"/>
            <a:chOff x="231045" y="4173587"/>
            <a:chExt cx="5194396" cy="265759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8080F7-A7D1-4D38-AB49-9DF9D3075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1045" y="4173587"/>
              <a:ext cx="5194396" cy="265759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832A0A-36C2-4BC1-9460-D15AE84D226A}"/>
                </a:ext>
              </a:extLst>
            </p:cNvPr>
            <p:cNvSpPr txBox="1"/>
            <p:nvPr/>
          </p:nvSpPr>
          <p:spPr>
            <a:xfrm>
              <a:off x="2223404" y="4173587"/>
              <a:ext cx="1209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Century Gothic" panose="020B0502020202020204" pitchFamily="34" charset="0"/>
                </a:rPr>
                <a:t>2013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BF22D9-5E8A-40AB-9611-F44D540FCFAD}"/>
              </a:ext>
            </a:extLst>
          </p:cNvPr>
          <p:cNvGrpSpPr/>
          <p:nvPr/>
        </p:nvGrpSpPr>
        <p:grpSpPr>
          <a:xfrm>
            <a:off x="10663831" y="6581001"/>
            <a:ext cx="684593" cy="276999"/>
            <a:chOff x="5562600" y="2350050"/>
            <a:chExt cx="684593" cy="276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108DD21-D446-4302-A400-21CE68DF5112}"/>
                </a:ext>
              </a:extLst>
            </p:cNvPr>
            <p:cNvSpPr/>
            <p:nvPr/>
          </p:nvSpPr>
          <p:spPr>
            <a:xfrm>
              <a:off x="5562600" y="2428875"/>
              <a:ext cx="124460" cy="119351"/>
            </a:xfrm>
            <a:prstGeom prst="rect">
              <a:avLst/>
            </a:prstGeom>
            <a:solidFill>
              <a:srgbClr val="00A9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26904B-3C9D-47CF-81BB-B2FA4150FF67}"/>
                </a:ext>
              </a:extLst>
            </p:cNvPr>
            <p:cNvSpPr txBox="1"/>
            <p:nvPr/>
          </p:nvSpPr>
          <p:spPr>
            <a:xfrm>
              <a:off x="5661977" y="2350050"/>
              <a:ext cx="5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Pond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7087115-E53E-4E3D-B14B-1D77F0BFB178}"/>
              </a:ext>
            </a:extLst>
          </p:cNvPr>
          <p:cNvSpPr txBox="1"/>
          <p:nvPr/>
        </p:nvSpPr>
        <p:spPr>
          <a:xfrm>
            <a:off x="4128611" y="34718"/>
            <a:ext cx="8111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Data source: https://portal.edirepository.org/nis/mapbrowse?packageid=knb-lter-gce.657.6</a:t>
            </a:r>
          </a:p>
        </p:txBody>
      </p:sp>
    </p:spTree>
    <p:extLst>
      <p:ext uri="{BB962C8B-B14F-4D97-AF65-F5344CB8AC3E}">
        <p14:creationId xmlns:p14="http://schemas.microsoft.com/office/powerpoint/2010/main" val="2717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E615-9624-C5E6-F703-23C06176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8721" y="6356350"/>
            <a:ext cx="2743200" cy="365125"/>
          </a:xfrm>
        </p:spPr>
        <p:txBody>
          <a:bodyPr/>
          <a:lstStyle/>
          <a:p>
            <a:fld id="{1A351140-180E-4F8A-815D-758645610114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A9F134-7817-42A0-AE1F-ECCF79C3CDF7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45834833-7BDA-4F86-959F-DD60B85180D8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C15124-1796-423F-B335-FB0F78C4781F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A13278-F203-4E6F-9BAD-F512E6DE2517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73ECB83-6478-43C8-8877-5AB2BD67B8F3}"/>
              </a:ext>
            </a:extLst>
          </p:cNvPr>
          <p:cNvSpPr txBox="1"/>
          <p:nvPr/>
        </p:nvSpPr>
        <p:spPr>
          <a:xfrm>
            <a:off x="-1" y="581585"/>
            <a:ext cx="6497321" cy="9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400" b="1" dirty="0">
                <a:latin typeface="Century Gothic" panose="020B0502020202020204" pitchFamily="34" charset="0"/>
              </a:rPr>
              <a:t>How would you analyze the change patterns of ponds in the maps below?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D4D3D14-8C2B-498A-844A-9A191C8D1971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35" b="11534"/>
          <a:stretch/>
        </p:blipFill>
        <p:spPr>
          <a:xfrm>
            <a:off x="7450036" y="3938318"/>
            <a:ext cx="3153337" cy="25248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440080-6CCA-4DCF-9AB8-220B48E12E72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3137"/>
          <a:stretch/>
        </p:blipFill>
        <p:spPr>
          <a:xfrm>
            <a:off x="6429375" y="6431423"/>
            <a:ext cx="4701309" cy="3651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5111751-DF47-49DE-AC6F-3583941F8552}"/>
              </a:ext>
            </a:extLst>
          </p:cNvPr>
          <p:cNvSpPr/>
          <p:nvPr/>
        </p:nvSpPr>
        <p:spPr>
          <a:xfrm>
            <a:off x="6429375" y="581585"/>
            <a:ext cx="55695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  <a:latin typeface="Century Gothic" panose="020B0502020202020204" pitchFamily="34" charset="0"/>
              </a:rPr>
              <a:t>Pixel-based approach:</a:t>
            </a:r>
            <a:r>
              <a:rPr lang="en-US" dirty="0">
                <a:solidFill>
                  <a:srgbClr val="1F1F1F"/>
                </a:solidFill>
                <a:latin typeface="Century Gothic" panose="020B0502020202020204" pitchFamily="34" charset="0"/>
              </a:rPr>
              <a:t> analyze land change on a per-pixel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1F1F"/>
                </a:solidFill>
                <a:latin typeface="Century Gothic" panose="020B0502020202020204" pitchFamily="34" charset="0"/>
              </a:rPr>
              <a:t>Patch-based approach: </a:t>
            </a:r>
            <a:r>
              <a:rPr lang="en-US" dirty="0">
                <a:solidFill>
                  <a:srgbClr val="1F1F1F"/>
                </a:solidFill>
                <a:latin typeface="Century Gothic" panose="020B0502020202020204" pitchFamily="34" charset="0"/>
              </a:rPr>
              <a:t>analyze land change on a patch level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F25A7C-976D-422C-AC42-5CA5282AB9AE}"/>
              </a:ext>
            </a:extLst>
          </p:cNvPr>
          <p:cNvSpPr/>
          <p:nvPr/>
        </p:nvSpPr>
        <p:spPr>
          <a:xfrm>
            <a:off x="7635714" y="3558665"/>
            <a:ext cx="3236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cs typeface="Arial" panose="020B0604020202020204" pitchFamily="34" charset="0"/>
              </a:rPr>
              <a:t>Two ways to define ‘connected’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1AD3B-5C44-47AC-93BD-6580D5B751C4}"/>
              </a:ext>
            </a:extLst>
          </p:cNvPr>
          <p:cNvSpPr/>
          <p:nvPr/>
        </p:nvSpPr>
        <p:spPr>
          <a:xfrm>
            <a:off x="7450036" y="3287978"/>
            <a:ext cx="1539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cs typeface="Arial" panose="020B0604020202020204" pitchFamily="34" charset="0"/>
              </a:rPr>
              <a:t>8-connectivity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C72D6D-4B7F-49B1-B688-2082AD43CFE8}"/>
              </a:ext>
            </a:extLst>
          </p:cNvPr>
          <p:cNvSpPr/>
          <p:nvPr/>
        </p:nvSpPr>
        <p:spPr>
          <a:xfrm>
            <a:off x="9254939" y="3287978"/>
            <a:ext cx="1539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cs typeface="Arial" panose="020B0604020202020204" pitchFamily="34" charset="0"/>
              </a:rPr>
              <a:t>4-connectivity</a:t>
            </a:r>
            <a:endParaRPr lang="en-US" dirty="0"/>
          </a:p>
        </p:txBody>
      </p:sp>
      <p:pic>
        <p:nvPicPr>
          <p:cNvPr id="21" name="Content Placeholder 4">
            <a:extLst>
              <a:ext uri="{FF2B5EF4-FFF2-40B4-BE49-F238E27FC236}">
                <a16:creationId xmlns:a16="http://schemas.microsoft.com/office/drawing/2014/main" id="{439666C6-D6B0-4946-870E-19728B895A8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37957" y="1781914"/>
            <a:ext cx="3233964" cy="14729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FEFE25-B7CA-433F-A24E-A456B2049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045" y="4173587"/>
            <a:ext cx="5194396" cy="26575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648C7F6-5CC1-4490-8C00-832A749946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045" y="1516585"/>
            <a:ext cx="5235035" cy="26570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9057F45-BE40-41E3-BBBE-6FD9621CD316}"/>
              </a:ext>
            </a:extLst>
          </p:cNvPr>
          <p:cNvSpPr txBox="1"/>
          <p:nvPr/>
        </p:nvSpPr>
        <p:spPr>
          <a:xfrm>
            <a:off x="2223405" y="1515988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1971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2059B0-B1D6-490F-BA1F-71F7EB4F62C3}"/>
              </a:ext>
            </a:extLst>
          </p:cNvPr>
          <p:cNvSpPr txBox="1"/>
          <p:nvPr/>
        </p:nvSpPr>
        <p:spPr>
          <a:xfrm>
            <a:off x="2223404" y="4173587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2013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6271B5-E11E-48DB-AF40-D35480F93D7A}"/>
              </a:ext>
            </a:extLst>
          </p:cNvPr>
          <p:cNvGrpSpPr/>
          <p:nvPr/>
        </p:nvGrpSpPr>
        <p:grpSpPr>
          <a:xfrm>
            <a:off x="5562600" y="6558018"/>
            <a:ext cx="684593" cy="276999"/>
            <a:chOff x="5562600" y="2350050"/>
            <a:chExt cx="684593" cy="27699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C2A8FB-0C60-4BEB-9B2A-6666A61CBDE6}"/>
                </a:ext>
              </a:extLst>
            </p:cNvPr>
            <p:cNvSpPr/>
            <p:nvPr/>
          </p:nvSpPr>
          <p:spPr>
            <a:xfrm>
              <a:off x="5562600" y="2428875"/>
              <a:ext cx="124460" cy="119351"/>
            </a:xfrm>
            <a:prstGeom prst="rect">
              <a:avLst/>
            </a:prstGeom>
            <a:solidFill>
              <a:srgbClr val="00A9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97CD70-210E-4500-9028-372B5263471E}"/>
                </a:ext>
              </a:extLst>
            </p:cNvPr>
            <p:cNvSpPr txBox="1"/>
            <p:nvPr/>
          </p:nvSpPr>
          <p:spPr>
            <a:xfrm>
              <a:off x="5661977" y="2350050"/>
              <a:ext cx="5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9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A9F134-7817-42A0-AE1F-ECCF79C3CDF7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45834833-7BDA-4F86-959F-DD60B85180D8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C15124-1796-423F-B335-FB0F78C4781F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A13278-F203-4E6F-9BAD-F512E6DE2517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73ECB83-6478-43C8-8877-5AB2BD67B8F3}"/>
              </a:ext>
            </a:extLst>
          </p:cNvPr>
          <p:cNvSpPr txBox="1"/>
          <p:nvPr/>
        </p:nvSpPr>
        <p:spPr>
          <a:xfrm>
            <a:off x="0" y="557741"/>
            <a:ext cx="6497321" cy="9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400" b="1" dirty="0">
                <a:latin typeface="Century Gothic" panose="020B0502020202020204" pitchFamily="34" charset="0"/>
              </a:rPr>
              <a:t>How would you analyze the change patterns of ponds in the maps below?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11751-DF47-49DE-AC6F-3583941F8552}"/>
              </a:ext>
            </a:extLst>
          </p:cNvPr>
          <p:cNvSpPr/>
          <p:nvPr/>
        </p:nvSpPr>
        <p:spPr>
          <a:xfrm>
            <a:off x="6137656" y="1510825"/>
            <a:ext cx="6039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F1F1F"/>
                </a:solidFill>
                <a:latin typeface="Century Gothic" panose="020B0502020202020204" pitchFamily="34" charset="0"/>
              </a:rPr>
              <a:t>GIS map overlays provide a spatially explicit characterization of landscape change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ED72C4-7D5D-4A8A-BDCF-CE8452DF6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45" y="4173587"/>
            <a:ext cx="5194396" cy="2657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3D9F93-DE81-4D40-947C-5D0B490A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45" y="1516585"/>
            <a:ext cx="5235035" cy="26570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B848FB-E959-4803-8B50-7918401FDC90}"/>
              </a:ext>
            </a:extLst>
          </p:cNvPr>
          <p:cNvSpPr txBox="1"/>
          <p:nvPr/>
        </p:nvSpPr>
        <p:spPr>
          <a:xfrm>
            <a:off x="2223405" y="1515988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1971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552E51-0B60-4DFF-8748-04E0E394F0CE}"/>
              </a:ext>
            </a:extLst>
          </p:cNvPr>
          <p:cNvSpPr txBox="1"/>
          <p:nvPr/>
        </p:nvSpPr>
        <p:spPr>
          <a:xfrm>
            <a:off x="2223404" y="4173587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2013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10608E8-9A3B-4FBC-9018-8CFD76FCD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7974" y="2278584"/>
            <a:ext cx="5188368" cy="2657003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FD80CCA8-C5FD-43B7-9ABE-BE587B072D82}"/>
              </a:ext>
            </a:extLst>
          </p:cNvPr>
          <p:cNvGrpSpPr/>
          <p:nvPr/>
        </p:nvGrpSpPr>
        <p:grpSpPr>
          <a:xfrm>
            <a:off x="1178269" y="2548226"/>
            <a:ext cx="7051331" cy="3991767"/>
            <a:chOff x="1178269" y="2548226"/>
            <a:chExt cx="7051331" cy="399176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6AD21D-33B9-4D53-B54C-0DB3FDC8EDDD}"/>
                </a:ext>
              </a:extLst>
            </p:cNvPr>
            <p:cNvSpPr/>
            <p:nvPr/>
          </p:nvSpPr>
          <p:spPr>
            <a:xfrm>
              <a:off x="7458439" y="3305175"/>
              <a:ext cx="771161" cy="13430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5F42B6-8791-421F-BC67-962740C03876}"/>
                </a:ext>
              </a:extLst>
            </p:cNvPr>
            <p:cNvSpPr/>
            <p:nvPr/>
          </p:nvSpPr>
          <p:spPr>
            <a:xfrm>
              <a:off x="1200514" y="2548226"/>
              <a:ext cx="771161" cy="13430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577F62D-30E2-4FA8-A8CD-48820A1D9FD2}"/>
                </a:ext>
              </a:extLst>
            </p:cNvPr>
            <p:cNvSpPr/>
            <p:nvPr/>
          </p:nvSpPr>
          <p:spPr>
            <a:xfrm>
              <a:off x="1178269" y="5196968"/>
              <a:ext cx="771161" cy="13430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65FEF5C-5A63-4BAC-9E24-EBFA98F2F991}"/>
              </a:ext>
            </a:extLst>
          </p:cNvPr>
          <p:cNvGrpSpPr/>
          <p:nvPr/>
        </p:nvGrpSpPr>
        <p:grpSpPr>
          <a:xfrm>
            <a:off x="366469" y="3416638"/>
            <a:ext cx="7051331" cy="3304330"/>
            <a:chOff x="366469" y="3416638"/>
            <a:chExt cx="7051331" cy="33043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849118-E614-4B82-B704-257DF9B09039}"/>
                </a:ext>
              </a:extLst>
            </p:cNvPr>
            <p:cNvSpPr/>
            <p:nvPr/>
          </p:nvSpPr>
          <p:spPr>
            <a:xfrm>
              <a:off x="6646639" y="4173587"/>
              <a:ext cx="771161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81D506B-BB90-45AB-B394-278BFBF486E4}"/>
                </a:ext>
              </a:extLst>
            </p:cNvPr>
            <p:cNvSpPr/>
            <p:nvPr/>
          </p:nvSpPr>
          <p:spPr>
            <a:xfrm>
              <a:off x="388714" y="3416638"/>
              <a:ext cx="771161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DA47C96-86A0-47BF-B935-2A80D502BE1E}"/>
                </a:ext>
              </a:extLst>
            </p:cNvPr>
            <p:cNvSpPr/>
            <p:nvPr/>
          </p:nvSpPr>
          <p:spPr>
            <a:xfrm>
              <a:off x="366469" y="6065380"/>
              <a:ext cx="771161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9DD2839-EDC4-4B3E-877B-B855099ED6E0}"/>
              </a:ext>
            </a:extLst>
          </p:cNvPr>
          <p:cNvGrpSpPr/>
          <p:nvPr/>
        </p:nvGrpSpPr>
        <p:grpSpPr>
          <a:xfrm>
            <a:off x="2811988" y="3145235"/>
            <a:ext cx="6951137" cy="3304330"/>
            <a:chOff x="2811988" y="3145235"/>
            <a:chExt cx="6951137" cy="330433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EBD6FC9-8960-4811-A336-980766F0C894}"/>
                </a:ext>
              </a:extLst>
            </p:cNvPr>
            <p:cNvSpPr/>
            <p:nvPr/>
          </p:nvSpPr>
          <p:spPr>
            <a:xfrm>
              <a:off x="9092158" y="3902184"/>
              <a:ext cx="670967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271AE6-8169-4023-A36C-859D34A38A9B}"/>
                </a:ext>
              </a:extLst>
            </p:cNvPr>
            <p:cNvSpPr/>
            <p:nvPr/>
          </p:nvSpPr>
          <p:spPr>
            <a:xfrm>
              <a:off x="2834233" y="3145235"/>
              <a:ext cx="670967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FE0057E-EE10-46FE-822C-AC60AD3769BA}"/>
                </a:ext>
              </a:extLst>
            </p:cNvPr>
            <p:cNvSpPr/>
            <p:nvPr/>
          </p:nvSpPr>
          <p:spPr>
            <a:xfrm>
              <a:off x="2811988" y="5793977"/>
              <a:ext cx="670967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D06D6D6-A415-4C6F-B448-786C73152F9D}"/>
              </a:ext>
            </a:extLst>
          </p:cNvPr>
          <p:cNvGrpSpPr/>
          <p:nvPr/>
        </p:nvGrpSpPr>
        <p:grpSpPr>
          <a:xfrm>
            <a:off x="4140180" y="3413573"/>
            <a:ext cx="6654186" cy="2897820"/>
            <a:chOff x="4140180" y="3413573"/>
            <a:chExt cx="6654186" cy="289782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F79DA0-7FBE-4FC7-855B-37FD2F40E6CF}"/>
                </a:ext>
              </a:extLst>
            </p:cNvPr>
            <p:cNvSpPr/>
            <p:nvPr/>
          </p:nvSpPr>
          <p:spPr>
            <a:xfrm>
              <a:off x="10420350" y="4170522"/>
              <a:ext cx="374016" cy="2490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D6114AB-7598-47C7-AD39-047AB2EEC824}"/>
                </a:ext>
              </a:extLst>
            </p:cNvPr>
            <p:cNvSpPr/>
            <p:nvPr/>
          </p:nvSpPr>
          <p:spPr>
            <a:xfrm>
              <a:off x="4162425" y="3413573"/>
              <a:ext cx="374016" cy="2490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865F447-EF55-470B-9B52-945A18078C7D}"/>
                </a:ext>
              </a:extLst>
            </p:cNvPr>
            <p:cNvSpPr/>
            <p:nvPr/>
          </p:nvSpPr>
          <p:spPr>
            <a:xfrm>
              <a:off x="4140180" y="6062315"/>
              <a:ext cx="374016" cy="2490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CC306E3-A991-40CF-BBF4-F875F534A4F6}"/>
              </a:ext>
            </a:extLst>
          </p:cNvPr>
          <p:cNvGrpSpPr/>
          <p:nvPr/>
        </p:nvGrpSpPr>
        <p:grpSpPr>
          <a:xfrm>
            <a:off x="4327188" y="1600286"/>
            <a:ext cx="6778962" cy="3215682"/>
            <a:chOff x="4327188" y="1600286"/>
            <a:chExt cx="6778962" cy="321568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F7EF978-6E4D-4A15-B906-B0CD4EBB8C05}"/>
                </a:ext>
              </a:extLst>
            </p:cNvPr>
            <p:cNvSpPr/>
            <p:nvPr/>
          </p:nvSpPr>
          <p:spPr>
            <a:xfrm>
              <a:off x="10607358" y="2357235"/>
              <a:ext cx="498792" cy="5669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E09CA6-4902-43B4-8452-06E726DA9284}"/>
                </a:ext>
              </a:extLst>
            </p:cNvPr>
            <p:cNvSpPr/>
            <p:nvPr/>
          </p:nvSpPr>
          <p:spPr>
            <a:xfrm>
              <a:off x="4349433" y="1600286"/>
              <a:ext cx="498792" cy="5669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CFE065-261C-42A3-BB38-29B2875AC557}"/>
                </a:ext>
              </a:extLst>
            </p:cNvPr>
            <p:cNvSpPr/>
            <p:nvPr/>
          </p:nvSpPr>
          <p:spPr>
            <a:xfrm>
              <a:off x="4327188" y="4249028"/>
              <a:ext cx="498792" cy="5669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2BF2444-9046-4980-8050-12CAA8D90C73}"/>
              </a:ext>
            </a:extLst>
          </p:cNvPr>
          <p:cNvGrpSpPr/>
          <p:nvPr/>
        </p:nvGrpSpPr>
        <p:grpSpPr>
          <a:xfrm>
            <a:off x="5562600" y="6558018"/>
            <a:ext cx="684593" cy="276999"/>
            <a:chOff x="5562600" y="2350050"/>
            <a:chExt cx="684593" cy="27699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FB9CC87-8DB0-4C9E-9271-998E14112EAC}"/>
                </a:ext>
              </a:extLst>
            </p:cNvPr>
            <p:cNvSpPr/>
            <p:nvPr/>
          </p:nvSpPr>
          <p:spPr>
            <a:xfrm>
              <a:off x="5562600" y="2428875"/>
              <a:ext cx="124460" cy="119351"/>
            </a:xfrm>
            <a:prstGeom prst="rect">
              <a:avLst/>
            </a:prstGeom>
            <a:solidFill>
              <a:srgbClr val="00A9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2327F82-50DC-477D-9394-879A7AEFE0B4}"/>
                </a:ext>
              </a:extLst>
            </p:cNvPr>
            <p:cNvSpPr txBox="1"/>
            <p:nvPr/>
          </p:nvSpPr>
          <p:spPr>
            <a:xfrm>
              <a:off x="5661977" y="2350050"/>
              <a:ext cx="5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Pond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1B72722-C9F0-419D-ACCF-C2C2892F8F77}"/>
              </a:ext>
            </a:extLst>
          </p:cNvPr>
          <p:cNvGrpSpPr/>
          <p:nvPr/>
        </p:nvGrpSpPr>
        <p:grpSpPr>
          <a:xfrm>
            <a:off x="7032219" y="4967619"/>
            <a:ext cx="4966512" cy="279807"/>
            <a:chOff x="7032219" y="4967619"/>
            <a:chExt cx="4966512" cy="279807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A52BE09-0C15-42DE-9113-537BC73CEE66}"/>
                </a:ext>
              </a:extLst>
            </p:cNvPr>
            <p:cNvGrpSpPr/>
            <p:nvPr/>
          </p:nvGrpSpPr>
          <p:grpSpPr>
            <a:xfrm>
              <a:off x="7032219" y="4970427"/>
              <a:ext cx="1578381" cy="276999"/>
              <a:chOff x="5562600" y="2350050"/>
              <a:chExt cx="1578381" cy="276999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629E0AA-A0AB-4DCE-9303-F429F886DA85}"/>
                  </a:ext>
                </a:extLst>
              </p:cNvPr>
              <p:cNvSpPr/>
              <p:nvPr/>
            </p:nvSpPr>
            <p:spPr>
              <a:xfrm>
                <a:off x="5562600" y="2428875"/>
                <a:ext cx="124460" cy="119351"/>
              </a:xfrm>
              <a:prstGeom prst="rect">
                <a:avLst/>
              </a:prstGeom>
              <a:solidFill>
                <a:srgbClr val="E1E1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2DBD231-490D-497E-B56C-3E5538AC7B30}"/>
                  </a:ext>
                </a:extLst>
              </p:cNvPr>
              <p:cNvSpPr txBox="1"/>
              <p:nvPr/>
            </p:nvSpPr>
            <p:spPr>
              <a:xfrm>
                <a:off x="5661977" y="2350050"/>
                <a:ext cx="14790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Stable Absence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0BECAB3-6687-4009-87C3-63F0740CD3CD}"/>
                </a:ext>
              </a:extLst>
            </p:cNvPr>
            <p:cNvGrpSpPr/>
            <p:nvPr/>
          </p:nvGrpSpPr>
          <p:grpSpPr>
            <a:xfrm>
              <a:off x="8368181" y="4970427"/>
              <a:ext cx="1578381" cy="276999"/>
              <a:chOff x="5562600" y="2350050"/>
              <a:chExt cx="1578381" cy="27699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0FE7A4A-6BE9-4A9A-BF40-C8567D90D08D}"/>
                  </a:ext>
                </a:extLst>
              </p:cNvPr>
              <p:cNvSpPr/>
              <p:nvPr/>
            </p:nvSpPr>
            <p:spPr>
              <a:xfrm>
                <a:off x="5562600" y="2428875"/>
                <a:ext cx="124460" cy="119351"/>
              </a:xfrm>
              <a:prstGeom prst="rect">
                <a:avLst/>
              </a:prstGeom>
              <a:solidFill>
                <a:srgbClr val="6868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1D0DABA-64A3-4A14-BADA-07DCF2B121FD}"/>
                  </a:ext>
                </a:extLst>
              </p:cNvPr>
              <p:cNvSpPr txBox="1"/>
              <p:nvPr/>
            </p:nvSpPr>
            <p:spPr>
              <a:xfrm>
                <a:off x="5661977" y="2350050"/>
                <a:ext cx="14790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Stable Presence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20573F5-E3A8-4F5E-92FD-D7385AA99EEC}"/>
                </a:ext>
              </a:extLst>
            </p:cNvPr>
            <p:cNvGrpSpPr/>
            <p:nvPr/>
          </p:nvGrpSpPr>
          <p:grpSpPr>
            <a:xfrm>
              <a:off x="9704143" y="4967619"/>
              <a:ext cx="1578381" cy="276999"/>
              <a:chOff x="5562600" y="2350050"/>
              <a:chExt cx="1578381" cy="276999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4C4F152-37F4-4F2C-8C3A-E16774921C88}"/>
                  </a:ext>
                </a:extLst>
              </p:cNvPr>
              <p:cNvSpPr/>
              <p:nvPr/>
            </p:nvSpPr>
            <p:spPr>
              <a:xfrm>
                <a:off x="5562600" y="2428875"/>
                <a:ext cx="124460" cy="119351"/>
              </a:xfrm>
              <a:prstGeom prst="rect">
                <a:avLst/>
              </a:prstGeom>
              <a:solidFill>
                <a:srgbClr val="0084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DC6FCC4-6D0C-43CD-8C11-C418B360B547}"/>
                  </a:ext>
                </a:extLst>
              </p:cNvPr>
              <p:cNvSpPr txBox="1"/>
              <p:nvPr/>
            </p:nvSpPr>
            <p:spPr>
              <a:xfrm>
                <a:off x="5661977" y="2350050"/>
                <a:ext cx="14790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Gain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9FF8C15-BA2B-4095-A47D-6FDAB672F19A}"/>
                </a:ext>
              </a:extLst>
            </p:cNvPr>
            <p:cNvGrpSpPr/>
            <p:nvPr/>
          </p:nvGrpSpPr>
          <p:grpSpPr>
            <a:xfrm>
              <a:off x="10420350" y="4967619"/>
              <a:ext cx="1578381" cy="276999"/>
              <a:chOff x="5562600" y="2350050"/>
              <a:chExt cx="1578381" cy="276999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15DF998-4D23-43AF-AB33-5108FAEACAF1}"/>
                  </a:ext>
                </a:extLst>
              </p:cNvPr>
              <p:cNvSpPr/>
              <p:nvPr/>
            </p:nvSpPr>
            <p:spPr>
              <a:xfrm>
                <a:off x="5562600" y="2428875"/>
                <a:ext cx="124460" cy="119351"/>
              </a:xfrm>
              <a:prstGeom prst="rect">
                <a:avLst/>
              </a:prstGeom>
              <a:solidFill>
                <a:srgbClr val="E698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AC9F2F9-345D-4FAE-BE12-42B86D42E994}"/>
                  </a:ext>
                </a:extLst>
              </p:cNvPr>
              <p:cNvSpPr txBox="1"/>
              <p:nvPr/>
            </p:nvSpPr>
            <p:spPr>
              <a:xfrm>
                <a:off x="5661977" y="2350050"/>
                <a:ext cx="14790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Loss</a:t>
                </a:r>
              </a:p>
            </p:txBody>
          </p:sp>
        </p:grp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99709FD9-AE0B-49F9-99DB-BDFB142FFE32}"/>
              </a:ext>
            </a:extLst>
          </p:cNvPr>
          <p:cNvSpPr/>
          <p:nvPr/>
        </p:nvSpPr>
        <p:spPr>
          <a:xfrm>
            <a:off x="5311302" y="5514537"/>
            <a:ext cx="69901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How do we explicitly characterize the dynamic transition patterns of a target land cover (e.g., ponds)? </a:t>
            </a:r>
            <a:endParaRPr lang="en-US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4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E615-9624-C5E6-F703-23C06176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51140-180E-4F8A-815D-758645610114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100582-99ED-4E51-B6A4-6747B12E8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3141" y="1709519"/>
            <a:ext cx="9351344" cy="273126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7F78D77-53BC-423B-9B8E-4A78CF1FFA47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D842E2B4-4CD9-41B8-8A8D-95038876F444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A204A0-6EB6-4ACE-974E-5D8C9381772C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0DA6DC-BD03-4876-BFEC-2542026A963E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900350-09BD-4196-8E2D-751D5040B7CF}"/>
              </a:ext>
            </a:extLst>
          </p:cNvPr>
          <p:cNvSpPr txBox="1"/>
          <p:nvPr/>
        </p:nvSpPr>
        <p:spPr>
          <a:xfrm>
            <a:off x="-281132" y="1153557"/>
            <a:ext cx="12473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What’s the size of presence (in # of pixels) at the Initial Time and the Final Time?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ECA498-A083-4F52-BA75-0D6D52A44491}"/>
              </a:ext>
            </a:extLst>
          </p:cNvPr>
          <p:cNvGrpSpPr/>
          <p:nvPr/>
        </p:nvGrpSpPr>
        <p:grpSpPr>
          <a:xfrm>
            <a:off x="1862747" y="4535084"/>
            <a:ext cx="8549818" cy="369333"/>
            <a:chOff x="1821092" y="5013662"/>
            <a:chExt cx="8549818" cy="36933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28B60D-9522-42C1-9446-AD9C1A6F17A5}"/>
                </a:ext>
              </a:extLst>
            </p:cNvPr>
            <p:cNvSpPr txBox="1"/>
            <p:nvPr/>
          </p:nvSpPr>
          <p:spPr>
            <a:xfrm>
              <a:off x="1821092" y="5013663"/>
              <a:ext cx="39838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dirty="0">
                  <a:cs typeface="Arial" panose="020B0604020202020204" pitchFamily="34" charset="0"/>
                </a:rPr>
                <a:t>Size of presence: 92 pixels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08A7A1-91F9-44BD-BB29-BBAFCB6EE250}"/>
                </a:ext>
              </a:extLst>
            </p:cNvPr>
            <p:cNvSpPr txBox="1"/>
            <p:nvPr/>
          </p:nvSpPr>
          <p:spPr>
            <a:xfrm>
              <a:off x="6387105" y="5013662"/>
              <a:ext cx="39838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dirty="0">
                  <a:cs typeface="Arial" panose="020B0604020202020204" pitchFamily="34" charset="0"/>
                </a:rPr>
                <a:t>Size of presence: 92 pixels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911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E615-9624-C5E6-F703-23C06176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51140-180E-4F8A-815D-75864561011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E970C-2657-7B9A-4B3D-DF53F02B5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7241" y="2300895"/>
            <a:ext cx="9351344" cy="273126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C09F3B2-FF30-48E9-BCF5-66B9916C91CC}"/>
              </a:ext>
            </a:extLst>
          </p:cNvPr>
          <p:cNvGrpSpPr/>
          <p:nvPr/>
        </p:nvGrpSpPr>
        <p:grpSpPr>
          <a:xfrm>
            <a:off x="1821092" y="5013662"/>
            <a:ext cx="8549818" cy="369333"/>
            <a:chOff x="1821092" y="5013662"/>
            <a:chExt cx="8549818" cy="36933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E0F6C2-1DD2-C01B-E5AF-52B34359E651}"/>
                </a:ext>
              </a:extLst>
            </p:cNvPr>
            <p:cNvSpPr txBox="1"/>
            <p:nvPr/>
          </p:nvSpPr>
          <p:spPr>
            <a:xfrm>
              <a:off x="1821092" y="5013663"/>
              <a:ext cx="39838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>
                  <a:cs typeface="Arial" panose="020B0604020202020204" pitchFamily="34" charset="0"/>
                </a:rPr>
                <a:t>Number of presence patches: 8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8B60E7-16F9-A06D-8FA9-2AD860177ABD}"/>
                </a:ext>
              </a:extLst>
            </p:cNvPr>
            <p:cNvSpPr txBox="1"/>
            <p:nvPr/>
          </p:nvSpPr>
          <p:spPr>
            <a:xfrm>
              <a:off x="6387105" y="5013662"/>
              <a:ext cx="39838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>
                  <a:cs typeface="Arial" panose="020B0604020202020204" pitchFamily="34" charset="0"/>
                </a:rPr>
                <a:t>Number of presence patches: 8 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B82F88D-ACBE-7198-3A68-7F0D65EE3936}"/>
              </a:ext>
            </a:extLst>
          </p:cNvPr>
          <p:cNvSpPr txBox="1"/>
          <p:nvPr/>
        </p:nvSpPr>
        <p:spPr>
          <a:xfrm>
            <a:off x="609761" y="1115598"/>
            <a:ext cx="109724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How many presence patches at the initial time and the final time?</a:t>
            </a:r>
          </a:p>
          <a:p>
            <a:pPr lvl="1" algn="ctr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How many absence patches at the initial time and final time?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C63CA6-030D-494C-9A44-BA07D8106F89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F9D709C6-52FB-4918-8C7B-15355B0527B2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158C50-69A6-4816-9E7C-0A80AE883AB2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79271A7-12AC-4555-9F0C-0740ADC36E07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60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CC15-CBF3-2B13-6B08-F8B4E379E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635" y="771405"/>
            <a:ext cx="11736729" cy="833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What is the change in number of patches and size of presence during the time interval of Initial Time – Final Time?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E615-9624-C5E6-F703-23C06176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51140-180E-4F8A-815D-75864561011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E970C-2657-7B9A-4B3D-DF53F02B5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7241" y="2300895"/>
            <a:ext cx="9351344" cy="27312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E0F6C2-1DD2-C01B-E5AF-52B34359E651}"/>
              </a:ext>
            </a:extLst>
          </p:cNvPr>
          <p:cNvSpPr txBox="1"/>
          <p:nvPr/>
        </p:nvSpPr>
        <p:spPr>
          <a:xfrm>
            <a:off x="1821092" y="5013663"/>
            <a:ext cx="3983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>
                <a:cs typeface="Arial" panose="020B0604020202020204" pitchFamily="34" charset="0"/>
              </a:rPr>
              <a:t>Number of presence patches: 8 </a:t>
            </a:r>
          </a:p>
          <a:p>
            <a:pPr lvl="1"/>
            <a:r>
              <a:rPr lang="en-US">
                <a:cs typeface="Arial" panose="020B0604020202020204" pitchFamily="34" charset="0"/>
              </a:rPr>
              <a:t>Size of presence: 92 pixels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B60E7-16F9-A06D-8FA9-2AD860177ABD}"/>
              </a:ext>
            </a:extLst>
          </p:cNvPr>
          <p:cNvSpPr txBox="1"/>
          <p:nvPr/>
        </p:nvSpPr>
        <p:spPr>
          <a:xfrm>
            <a:off x="6387105" y="5013662"/>
            <a:ext cx="3983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>
                <a:cs typeface="Arial" panose="020B0604020202020204" pitchFamily="34" charset="0"/>
              </a:rPr>
              <a:t>Number of presence patches: 8 </a:t>
            </a:r>
          </a:p>
          <a:p>
            <a:pPr lvl="1"/>
            <a:r>
              <a:rPr lang="en-US">
                <a:cs typeface="Arial" panose="020B0604020202020204" pitchFamily="34" charset="0"/>
              </a:rPr>
              <a:t>Size of presence: 92 pixels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2F88D-ACBE-7198-3A68-7F0D65EE3936}"/>
              </a:ext>
            </a:extLst>
          </p:cNvPr>
          <p:cNvSpPr txBox="1"/>
          <p:nvPr/>
        </p:nvSpPr>
        <p:spPr>
          <a:xfrm>
            <a:off x="3067051" y="6033184"/>
            <a:ext cx="5134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>
                <a:cs typeface="Arial" panose="020B0604020202020204" pitchFamily="34" charset="0"/>
              </a:rPr>
              <a:t>Net change in number of patches: 0</a:t>
            </a:r>
          </a:p>
          <a:p>
            <a:pPr lvl="1" algn="ctr"/>
            <a:r>
              <a:rPr lang="en-US" b="1">
                <a:cs typeface="Arial" panose="020B0604020202020204" pitchFamily="34" charset="0"/>
              </a:rPr>
              <a:t>Net change in size of presence: 0  </a:t>
            </a:r>
            <a:endParaRPr lang="en-US" b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E3F28C-9E3A-4783-9201-7574C1DD5DF0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91F9B1A-48E6-4792-85A3-5DF47EF06809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1AB4E1-9ADE-4B5D-A534-13D32ED4B18E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51912D-0A07-432A-B771-DAE0BECFF7CB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6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E615-9624-C5E6-F703-23C06176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51140-180E-4F8A-815D-758645610114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FE5568-85A5-8F83-D82F-E7164E353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9143" y="1875028"/>
            <a:ext cx="7333714" cy="388230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71B55F-49B0-7427-4EDF-921E2E0FB3B4}"/>
              </a:ext>
            </a:extLst>
          </p:cNvPr>
          <p:cNvSpPr txBox="1">
            <a:spLocks/>
          </p:cNvSpPr>
          <p:nvPr/>
        </p:nvSpPr>
        <p:spPr>
          <a:xfrm>
            <a:off x="148180" y="479961"/>
            <a:ext cx="11736729" cy="1734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Century Gothic" panose="020B0502020202020204" pitchFamily="34" charset="0"/>
                <a:cs typeface="Arial" panose="020B0604020202020204" pitchFamily="34" charset="0"/>
              </a:rPr>
              <a:t>In the example map below, each change patch has a unique transition pattern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927B9A-0F30-4E98-A1DF-6D99ABCFDF90}"/>
              </a:ext>
            </a:extLst>
          </p:cNvPr>
          <p:cNvGrpSpPr/>
          <p:nvPr/>
        </p:nvGrpSpPr>
        <p:grpSpPr>
          <a:xfrm>
            <a:off x="148180" y="5716721"/>
            <a:ext cx="12191999" cy="1018824"/>
            <a:chOff x="148180" y="5716721"/>
            <a:chExt cx="12191999" cy="101882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48BF8BB-A82F-AE06-5336-CCE2501A2624}"/>
                </a:ext>
              </a:extLst>
            </p:cNvPr>
            <p:cNvSpPr txBox="1"/>
            <p:nvPr/>
          </p:nvSpPr>
          <p:spPr>
            <a:xfrm>
              <a:off x="3257551" y="5716721"/>
              <a:ext cx="51345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/>
              <a:r>
                <a:rPr lang="en-US" b="1" dirty="0">
                  <a:cs typeface="Arial" panose="020B0604020202020204" pitchFamily="34" charset="0"/>
                </a:rPr>
                <a:t>Change pixels: 64</a:t>
              </a:r>
            </a:p>
            <a:p>
              <a:pPr lvl="1" algn="ctr"/>
              <a:r>
                <a:rPr lang="en-US" b="1" dirty="0">
                  <a:cs typeface="Arial" panose="020B0604020202020204" pitchFamily="34" charset="0"/>
                </a:rPr>
                <a:t>Change patches: 8</a:t>
              </a:r>
              <a:endParaRPr lang="en-US" b="1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EB95C4-BFE2-4306-923F-9176C8BB9CFC}"/>
                </a:ext>
              </a:extLst>
            </p:cNvPr>
            <p:cNvSpPr/>
            <p:nvPr/>
          </p:nvSpPr>
          <p:spPr>
            <a:xfrm>
              <a:off x="148180" y="6366213"/>
              <a:ext cx="121919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Change patch: a patch of gain or a patch of loss during a time interval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8D2465-E77F-4733-B372-62E8BE6DE508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2C8AD1B3-6767-4E7C-BE1C-31822DDDBE93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1C0CE9-BABE-4267-AB87-34D9343AF9AF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B16314-713B-4B80-8961-F6BF89432F52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DC397A7-EA8D-4450-BFBA-E17E7B02DAD6}"/>
              </a:ext>
            </a:extLst>
          </p:cNvPr>
          <p:cNvSpPr txBox="1"/>
          <p:nvPr/>
        </p:nvSpPr>
        <p:spPr>
          <a:xfrm>
            <a:off x="3257551" y="1364683"/>
            <a:ext cx="5353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Overlay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2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5690" y="-11157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E615-9624-C5E6-F703-23C06176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51140-180E-4F8A-815D-758645610114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EFE077-AE5C-4FA9-8EB4-FCD63C151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94" y="1100554"/>
            <a:ext cx="5165311" cy="461491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9B58D7-AC4F-1417-F65B-6C3A1FE34389}"/>
              </a:ext>
            </a:extLst>
          </p:cNvPr>
          <p:cNvGraphicFramePr>
            <a:graphicFrameLocks noGrp="1"/>
          </p:cNvGraphicFramePr>
          <p:nvPr/>
        </p:nvGraphicFramePr>
        <p:xfrm>
          <a:off x="5738748" y="1513095"/>
          <a:ext cx="6309358" cy="338391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72407">
                  <a:extLst>
                    <a:ext uri="{9D8B030D-6E8A-4147-A177-3AD203B41FA5}">
                      <a16:colId xmlns:a16="http://schemas.microsoft.com/office/drawing/2014/main" val="1725299177"/>
                    </a:ext>
                  </a:extLst>
                </a:gridCol>
                <a:gridCol w="885736">
                  <a:extLst>
                    <a:ext uri="{9D8B030D-6E8A-4147-A177-3AD203B41FA5}">
                      <a16:colId xmlns:a16="http://schemas.microsoft.com/office/drawing/2014/main" val="908958999"/>
                    </a:ext>
                  </a:extLst>
                </a:gridCol>
                <a:gridCol w="869862">
                  <a:extLst>
                    <a:ext uri="{9D8B030D-6E8A-4147-A177-3AD203B41FA5}">
                      <a16:colId xmlns:a16="http://schemas.microsoft.com/office/drawing/2014/main" val="1468898039"/>
                    </a:ext>
                  </a:extLst>
                </a:gridCol>
                <a:gridCol w="869862">
                  <a:extLst>
                    <a:ext uri="{9D8B030D-6E8A-4147-A177-3AD203B41FA5}">
                      <a16:colId xmlns:a16="http://schemas.microsoft.com/office/drawing/2014/main" val="2970638472"/>
                    </a:ext>
                  </a:extLst>
                </a:gridCol>
                <a:gridCol w="870497">
                  <a:extLst>
                    <a:ext uri="{9D8B030D-6E8A-4147-A177-3AD203B41FA5}">
                      <a16:colId xmlns:a16="http://schemas.microsoft.com/office/drawing/2014/main" val="102591839"/>
                    </a:ext>
                  </a:extLst>
                </a:gridCol>
                <a:gridCol w="870497">
                  <a:extLst>
                    <a:ext uri="{9D8B030D-6E8A-4147-A177-3AD203B41FA5}">
                      <a16:colId xmlns:a16="http://schemas.microsoft.com/office/drawing/2014/main" val="1660712928"/>
                    </a:ext>
                  </a:extLst>
                </a:gridCol>
                <a:gridCol w="870497">
                  <a:extLst>
                    <a:ext uri="{9D8B030D-6E8A-4147-A177-3AD203B41FA5}">
                      <a16:colId xmlns:a16="http://schemas.microsoft.com/office/drawing/2014/main" val="2949832957"/>
                    </a:ext>
                  </a:extLst>
                </a:gridCol>
              </a:tblGrid>
              <a:tr h="330835"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Transition Type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Change type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Number of connected patch(es)</a:t>
                      </a:r>
                      <a:r>
                        <a:rPr lang="en-US" sz="1200" baseline="30000" dirty="0">
                          <a:effectLst/>
                        </a:rPr>
                        <a:t>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Gross change in the number of patches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604648"/>
                  </a:ext>
                </a:extLst>
              </a:tr>
              <a:tr h="4654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Initial Presence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Final Presence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Initial Exterior Absence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Final Exterior Absence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637376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Appearing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Gain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Increase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92380542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Merging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Gain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Decrease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911988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Filling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Gain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 gross change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7241365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Expanding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Gain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&gt;0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 gross change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8192012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Disappearing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Decrease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26900"/>
                  </a:ext>
                </a:extLst>
              </a:tr>
              <a:tr h="25971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Splitting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Increase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581594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Perforating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 gross change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2612144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Contracting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Loss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&gt;0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 gross change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1703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CEF3EE-9D34-E92D-7794-D81D8E16E807}"/>
              </a:ext>
            </a:extLst>
          </p:cNvPr>
          <p:cNvSpPr txBox="1"/>
          <p:nvPr/>
        </p:nvSpPr>
        <p:spPr>
          <a:xfrm>
            <a:off x="5882642" y="1026496"/>
            <a:ext cx="628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600"/>
              </a:spcBef>
              <a:spcAft>
                <a:spcPts val="600"/>
              </a:spcAft>
            </a:pPr>
            <a:r>
              <a:rPr lang="en-US" b="0" dirty="0">
                <a:effectLst/>
                <a:ea typeface="SimSun" panose="02010600030101010101" pitchFamily="2" charset="-122"/>
              </a:rPr>
              <a:t>Identification of transition types</a:t>
            </a:r>
            <a:r>
              <a:rPr lang="en-US" sz="1050" b="0" dirty="0">
                <a:effectLst/>
                <a:ea typeface="SimSun" panose="02010600030101010101" pitchFamily="2" charset="-122"/>
              </a:rPr>
              <a:t> </a:t>
            </a:r>
            <a:endParaRPr lang="en-US" b="1" dirty="0">
              <a:effectLst/>
              <a:ea typeface="SimSun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83C4A-0B46-C591-43D3-88FE9AE400AF}"/>
              </a:ext>
            </a:extLst>
          </p:cNvPr>
          <p:cNvSpPr txBox="1"/>
          <p:nvPr/>
        </p:nvSpPr>
        <p:spPr>
          <a:xfrm>
            <a:off x="55690" y="5757446"/>
            <a:ext cx="51653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600"/>
              </a:spcBef>
              <a:spcAft>
                <a:spcPts val="600"/>
              </a:spcAft>
            </a:pPr>
            <a:r>
              <a:rPr lang="en-US" sz="1600" b="0" dirty="0">
                <a:effectLst/>
                <a:ea typeface="SimSun" panose="02010600030101010101" pitchFamily="2" charset="-122"/>
              </a:rPr>
              <a:t>Characterizing patch-transition types: a designed example</a:t>
            </a:r>
            <a:endParaRPr lang="en-US" sz="1600" b="1" dirty="0">
              <a:effectLst/>
              <a:ea typeface="SimSun" panose="02010600030101010101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6895E-18D8-5BAF-F7A8-9B4CD97EA2CA}"/>
              </a:ext>
            </a:extLst>
          </p:cNvPr>
          <p:cNvSpPr txBox="1"/>
          <p:nvPr/>
        </p:nvSpPr>
        <p:spPr>
          <a:xfrm>
            <a:off x="5805143" y="5185173"/>
            <a:ext cx="6254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DynamicPATCH</a:t>
            </a:r>
            <a:r>
              <a:rPr lang="en-US" b="1" dirty="0"/>
              <a:t> </a:t>
            </a:r>
            <a:r>
              <a:rPr lang="en-US" sz="1800" b="1" dirty="0">
                <a:effectLst/>
                <a:ea typeface="SimSun" panose="02010600030101010101" pitchFamily="2" charset="-122"/>
              </a:rPr>
              <a:t>identifies eight patch-based transition types that are mutually exclusive and collectively exhaustive</a:t>
            </a:r>
            <a:endParaRPr lang="en-US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842E86-B643-483D-BB02-D19C87029993}"/>
              </a:ext>
            </a:extLst>
          </p:cNvPr>
          <p:cNvGrpSpPr/>
          <p:nvPr/>
        </p:nvGrpSpPr>
        <p:grpSpPr>
          <a:xfrm>
            <a:off x="55690" y="-27034"/>
            <a:ext cx="12355385" cy="954107"/>
            <a:chOff x="55690" y="-27034"/>
            <a:chExt cx="12355385" cy="954107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53CAB266-EA9D-4635-B44A-2DB78322D74C}"/>
                </a:ext>
              </a:extLst>
            </p:cNvPr>
            <p:cNvSpPr txBox="1">
              <a:spLocks/>
            </p:cNvSpPr>
            <p:nvPr/>
          </p:nvSpPr>
          <p:spPr>
            <a:xfrm>
              <a:off x="55690" y="73873"/>
              <a:ext cx="12355385" cy="835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3D6E73-C418-47E7-B444-E6C2E59A947C}"/>
                </a:ext>
              </a:extLst>
            </p:cNvPr>
            <p:cNvSpPr/>
            <p:nvPr/>
          </p:nvSpPr>
          <p:spPr>
            <a:xfrm>
              <a:off x="83312" y="-27034"/>
              <a:ext cx="1210868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DynamicPATCH</a:t>
              </a:r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  <a:p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Spatially Explicit </a:t>
              </a:r>
              <a:r>
                <a:rPr lang="en-US" sz="2400" b="1" dirty="0">
                  <a:solidFill>
                    <a:srgbClr val="C00000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Dynamic</a:t>
              </a:r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dirty="0" err="1">
                  <a:solidFill>
                    <a:srgbClr val="C00000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PA</a:t>
              </a:r>
              <a:r>
                <a:rPr lang="en-US" sz="2400" dirty="0" err="1">
                  <a:latin typeface="Century Gothic" panose="020B0502020202020204" pitchFamily="34" charset="0"/>
                  <a:cs typeface="Arial" panose="020B0604020202020204" pitchFamily="34" charset="0"/>
                </a:rPr>
                <a:t>tch</a:t>
              </a:r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dirty="0">
                  <a:solidFill>
                    <a:srgbClr val="C00000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ransition </a:t>
              </a:r>
              <a:r>
                <a:rPr lang="en-US" sz="2400" b="1" dirty="0" err="1">
                  <a:solidFill>
                    <a:srgbClr val="C00000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CH</a:t>
              </a:r>
              <a:r>
                <a:rPr lang="en-US" sz="2400" dirty="0" err="1">
                  <a:latin typeface="Century Gothic" panose="020B0502020202020204" pitchFamily="34" charset="0"/>
                  <a:cs typeface="Arial" panose="020B0604020202020204" pitchFamily="34" charset="0"/>
                </a:rPr>
                <a:t>aracterization</a:t>
              </a:r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8BFADA-4CA5-4DD0-8AA4-49ED8CB06CFD}"/>
                </a:ext>
              </a:extLst>
            </p:cNvPr>
            <p:cNvSpPr/>
            <p:nvPr/>
          </p:nvSpPr>
          <p:spPr>
            <a:xfrm>
              <a:off x="55690" y="73024"/>
              <a:ext cx="45719" cy="7885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9816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6EFA8-E770-47DB-A5E8-11532798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10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5E01BB-AC19-4366-9052-002F003250FE}"/>
              </a:ext>
            </a:extLst>
          </p:cNvPr>
          <p:cNvSpPr/>
          <p:nvPr/>
        </p:nvSpPr>
        <p:spPr>
          <a:xfrm>
            <a:off x="453671" y="1479122"/>
            <a:ext cx="254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Gross Gain in size:</a:t>
            </a:r>
          </a:p>
          <a:p>
            <a:r>
              <a:rPr lang="en-US" sz="2000" dirty="0"/>
              <a:t>Appearing: 16 Merging: 8 </a:t>
            </a:r>
          </a:p>
          <a:p>
            <a:r>
              <a:rPr lang="en-US" sz="2000" dirty="0"/>
              <a:t>Filling: 2</a:t>
            </a:r>
          </a:p>
          <a:p>
            <a:r>
              <a:rPr lang="en-US" sz="2000" dirty="0"/>
              <a:t>Expanding: 6</a:t>
            </a:r>
          </a:p>
          <a:p>
            <a:r>
              <a:rPr lang="en-US" sz="2000" dirty="0"/>
              <a:t>Total: 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33CC47-57D7-4A86-93B9-2A37E7B94C69}"/>
              </a:ext>
            </a:extLst>
          </p:cNvPr>
          <p:cNvSpPr/>
          <p:nvPr/>
        </p:nvSpPr>
        <p:spPr>
          <a:xfrm>
            <a:off x="453671" y="3418114"/>
            <a:ext cx="254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Gross Loss in size:</a:t>
            </a:r>
          </a:p>
          <a:p>
            <a:r>
              <a:rPr lang="en-US" sz="2000" dirty="0"/>
              <a:t>Disappearing: 16 </a:t>
            </a:r>
          </a:p>
          <a:p>
            <a:r>
              <a:rPr lang="en-US" sz="2000" dirty="0"/>
              <a:t>Splitting: 8 </a:t>
            </a:r>
          </a:p>
          <a:p>
            <a:r>
              <a:rPr lang="en-US" sz="2000" dirty="0"/>
              <a:t>Perforating: 2</a:t>
            </a:r>
          </a:p>
          <a:p>
            <a:r>
              <a:rPr lang="en-US" sz="2000" dirty="0"/>
              <a:t>Contracting: 6</a:t>
            </a:r>
          </a:p>
          <a:p>
            <a:r>
              <a:rPr lang="en-US" sz="2000" dirty="0"/>
              <a:t>Total: 32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97E48D-FD2A-02FC-9586-53C11AB0BFD6}"/>
              </a:ext>
            </a:extLst>
          </p:cNvPr>
          <p:cNvSpPr txBox="1">
            <a:spLocks/>
          </p:cNvSpPr>
          <p:nvPr/>
        </p:nvSpPr>
        <p:spPr>
          <a:xfrm>
            <a:off x="314325" y="1195584"/>
            <a:ext cx="12355385" cy="835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545CA6-E04D-429E-8020-F4792B555C30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0CC57E49-474D-424D-A3F8-EF3CBE33A2D2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A34D332-F223-4E36-9127-F2D477526561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DynamicPATCH</a:t>
              </a:r>
              <a:endPara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67B7C9-6354-42A1-B1C4-5B946D707E63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E00070C-DFBC-4335-9CBE-574611F1C070}"/>
              </a:ext>
            </a:extLst>
          </p:cNvPr>
          <p:cNvSpPr txBox="1"/>
          <p:nvPr/>
        </p:nvSpPr>
        <p:spPr>
          <a:xfrm>
            <a:off x="1014413" y="459467"/>
            <a:ext cx="10710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How does </a:t>
            </a:r>
            <a:r>
              <a:rPr lang="en-US" sz="2400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DynamicPATCH</a:t>
            </a:r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 quantify gross changes?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BF5440-C3DB-4ABD-8549-31C04064D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140" y="944920"/>
            <a:ext cx="6297307" cy="562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3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63A16A9-0EBA-EF82-983C-199182016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140" y="944920"/>
            <a:ext cx="6297307" cy="56262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997E-3CA3-4CF0-96EE-E924D4D08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62" y="1247880"/>
            <a:ext cx="2357565" cy="1256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Union patch: </a:t>
            </a:r>
            <a:r>
              <a:rPr lang="en-US" sz="2000" dirty="0"/>
              <a:t>the union of Initial Presence and Final Presence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6EFA8-E770-47DB-A5E8-11532798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3536" y="6283779"/>
            <a:ext cx="2743200" cy="365125"/>
          </a:xfrm>
        </p:spPr>
        <p:txBody>
          <a:bodyPr/>
          <a:lstStyle/>
          <a:p>
            <a:fld id="{D1F91A0B-866F-4808-971F-0FC85A213661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7819F-3EEE-44E7-B005-1E5C9DF8ABFC}"/>
              </a:ext>
            </a:extLst>
          </p:cNvPr>
          <p:cNvSpPr/>
          <p:nvPr/>
        </p:nvSpPr>
        <p:spPr>
          <a:xfrm>
            <a:off x="3176117" y="3002488"/>
            <a:ext cx="1224433" cy="1207561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2F6691-6240-4BE2-BDEA-C818CD3EBA93}"/>
              </a:ext>
            </a:extLst>
          </p:cNvPr>
          <p:cNvGrpSpPr/>
          <p:nvPr/>
        </p:nvGrpSpPr>
        <p:grpSpPr>
          <a:xfrm>
            <a:off x="6269255" y="2992964"/>
            <a:ext cx="1176120" cy="1154040"/>
            <a:chOff x="6069228" y="1968500"/>
            <a:chExt cx="1512672" cy="14985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62FB48-FA31-4ACD-9BDF-2ABCF8EFB5E2}"/>
                </a:ext>
              </a:extLst>
            </p:cNvPr>
            <p:cNvSpPr/>
            <p:nvPr/>
          </p:nvSpPr>
          <p:spPr>
            <a:xfrm>
              <a:off x="6069228" y="1968500"/>
              <a:ext cx="1512672" cy="1498599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950720-0791-482A-AC26-9A0818D8C332}"/>
                </a:ext>
              </a:extLst>
            </p:cNvPr>
            <p:cNvSpPr/>
            <p:nvPr/>
          </p:nvSpPr>
          <p:spPr>
            <a:xfrm>
              <a:off x="6807200" y="2362201"/>
              <a:ext cx="406400" cy="736600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8786D1-94FF-ED03-51E5-B57D887B98E7}"/>
              </a:ext>
            </a:extLst>
          </p:cNvPr>
          <p:cNvGrpSpPr/>
          <p:nvPr/>
        </p:nvGrpSpPr>
        <p:grpSpPr>
          <a:xfrm>
            <a:off x="6269255" y="4520478"/>
            <a:ext cx="1176120" cy="1216323"/>
            <a:chOff x="6761964" y="3788229"/>
            <a:chExt cx="1512672" cy="14985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62FB48-FA31-4ACD-9BDF-2ABCF8EFB5E2}"/>
                </a:ext>
              </a:extLst>
            </p:cNvPr>
            <p:cNvSpPr/>
            <p:nvPr/>
          </p:nvSpPr>
          <p:spPr>
            <a:xfrm>
              <a:off x="6761964" y="3788229"/>
              <a:ext cx="1512672" cy="1498599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F698F9-7132-43A5-8913-51ECA39DEBF6}"/>
                </a:ext>
              </a:extLst>
            </p:cNvPr>
            <p:cNvSpPr/>
            <p:nvPr/>
          </p:nvSpPr>
          <p:spPr>
            <a:xfrm>
              <a:off x="7121575" y="4156528"/>
              <a:ext cx="406400" cy="736600"/>
            </a:xfrm>
            <a:prstGeom prst="rect">
              <a:avLst/>
            </a:prstGeom>
            <a:noFill/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E01BB-AC19-4366-9052-002F003250FE}"/>
              </a:ext>
            </a:extLst>
          </p:cNvPr>
          <p:cNvSpPr/>
          <p:nvPr/>
        </p:nvSpPr>
        <p:spPr>
          <a:xfrm>
            <a:off x="328027" y="3639172"/>
            <a:ext cx="2540000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Gross increase: +2</a:t>
            </a:r>
          </a:p>
          <a:p>
            <a:r>
              <a:rPr lang="en-US" sz="2000" dirty="0"/>
              <a:t>Gross decrease: -2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9703C-5734-EF17-9756-A633B5E5EBE7}"/>
              </a:ext>
            </a:extLst>
          </p:cNvPr>
          <p:cNvSpPr txBox="1"/>
          <p:nvPr/>
        </p:nvSpPr>
        <p:spPr>
          <a:xfrm>
            <a:off x="9251860" y="1137319"/>
            <a:ext cx="28680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1200" dirty="0">
                <a:solidFill>
                  <a:srgbClr val="C00000"/>
                </a:solidFill>
                <a:effectLst/>
              </a:rPr>
              <a:t>Change in number of patch </a:t>
            </a:r>
            <a:r>
              <a:rPr lang="en-US" dirty="0">
                <a:solidFill>
                  <a:srgbClr val="C00000"/>
                </a:solidFill>
              </a:rPr>
              <a:t>in</a:t>
            </a:r>
            <a:r>
              <a:rPr lang="en-US" kern="1200" dirty="0">
                <a:solidFill>
                  <a:srgbClr val="C00000"/>
                </a:solidFill>
                <a:effectLst/>
              </a:rPr>
              <a:t> each union patch </a:t>
            </a:r>
          </a:p>
          <a:p>
            <a:r>
              <a:rPr lang="en-US" kern="1200" dirty="0">
                <a:solidFill>
                  <a:srgbClr val="C00000"/>
                </a:solidFill>
                <a:effectLst/>
              </a:rPr>
              <a:t>= Number of Final Presence patches – Number of Initial Presence patches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466EBB-96A9-DA4C-73D7-72ED361BABE7}"/>
              </a:ext>
            </a:extLst>
          </p:cNvPr>
          <p:cNvSpPr/>
          <p:nvPr/>
        </p:nvSpPr>
        <p:spPr>
          <a:xfrm>
            <a:off x="4729022" y="2992723"/>
            <a:ext cx="1224433" cy="1207561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E494A3-DAD3-3AF1-2AB0-27AEA07C9E41}"/>
              </a:ext>
            </a:extLst>
          </p:cNvPr>
          <p:cNvSpPr/>
          <p:nvPr/>
        </p:nvSpPr>
        <p:spPr>
          <a:xfrm>
            <a:off x="7791452" y="2992723"/>
            <a:ext cx="1224433" cy="1207561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6DEFE9-1440-B0CF-B21E-B329E521563C}"/>
              </a:ext>
            </a:extLst>
          </p:cNvPr>
          <p:cNvSpPr/>
          <p:nvPr/>
        </p:nvSpPr>
        <p:spPr>
          <a:xfrm>
            <a:off x="3176116" y="4523647"/>
            <a:ext cx="1224433" cy="1207561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D17FDB-3FAC-0659-0FB1-4BCD608C33B7}"/>
              </a:ext>
            </a:extLst>
          </p:cNvPr>
          <p:cNvSpPr/>
          <p:nvPr/>
        </p:nvSpPr>
        <p:spPr>
          <a:xfrm>
            <a:off x="4727448" y="4523646"/>
            <a:ext cx="1224433" cy="1207561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05E0B9-559B-D688-92DB-92A702612B0F}"/>
              </a:ext>
            </a:extLst>
          </p:cNvPr>
          <p:cNvSpPr/>
          <p:nvPr/>
        </p:nvSpPr>
        <p:spPr>
          <a:xfrm>
            <a:off x="7791452" y="4523646"/>
            <a:ext cx="1224433" cy="1207561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6EF3-C701-BCD0-88CE-32061392D796}"/>
              </a:ext>
            </a:extLst>
          </p:cNvPr>
          <p:cNvSpPr txBox="1"/>
          <p:nvPr/>
        </p:nvSpPr>
        <p:spPr>
          <a:xfrm>
            <a:off x="3581139" y="3385318"/>
            <a:ext cx="4384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+1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87C141-112B-2A71-D2FE-7AA35A64EEC2}"/>
              </a:ext>
            </a:extLst>
          </p:cNvPr>
          <p:cNvSpPr txBox="1"/>
          <p:nvPr/>
        </p:nvSpPr>
        <p:spPr>
          <a:xfrm>
            <a:off x="5120458" y="3379736"/>
            <a:ext cx="4384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-1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AE5B12-E996-E791-8B7A-89E3673DF62C}"/>
              </a:ext>
            </a:extLst>
          </p:cNvPr>
          <p:cNvSpPr txBox="1"/>
          <p:nvPr/>
        </p:nvSpPr>
        <p:spPr>
          <a:xfrm>
            <a:off x="6751388" y="3368046"/>
            <a:ext cx="3159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0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AE1B4C-D95D-F59F-7D4E-11170F674A45}"/>
              </a:ext>
            </a:extLst>
          </p:cNvPr>
          <p:cNvSpPr txBox="1"/>
          <p:nvPr/>
        </p:nvSpPr>
        <p:spPr>
          <a:xfrm>
            <a:off x="8245677" y="3377458"/>
            <a:ext cx="3159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0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A92147-E2A7-0258-1AA7-D3A216872481}"/>
              </a:ext>
            </a:extLst>
          </p:cNvPr>
          <p:cNvSpPr txBox="1"/>
          <p:nvPr/>
        </p:nvSpPr>
        <p:spPr>
          <a:xfrm>
            <a:off x="8245676" y="4933665"/>
            <a:ext cx="3159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0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D22F51-73FA-0CCE-D24B-C637BAE5F521}"/>
              </a:ext>
            </a:extLst>
          </p:cNvPr>
          <p:cNvSpPr txBox="1"/>
          <p:nvPr/>
        </p:nvSpPr>
        <p:spPr>
          <a:xfrm>
            <a:off x="6707438" y="4942760"/>
            <a:ext cx="31598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0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C5B231-5167-20E1-B2EB-3204F5C64837}"/>
              </a:ext>
            </a:extLst>
          </p:cNvPr>
          <p:cNvSpPr txBox="1"/>
          <p:nvPr/>
        </p:nvSpPr>
        <p:spPr>
          <a:xfrm>
            <a:off x="3569126" y="4942760"/>
            <a:ext cx="4384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-1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A005CD-8651-2B0F-2B96-5CF6D4AEAB09}"/>
              </a:ext>
            </a:extLst>
          </p:cNvPr>
          <p:cNvSpPr txBox="1"/>
          <p:nvPr/>
        </p:nvSpPr>
        <p:spPr>
          <a:xfrm>
            <a:off x="5135908" y="4933665"/>
            <a:ext cx="4384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/>
              <a:t>+1</a:t>
            </a:r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717561-76C5-4233-9BA2-7BAAC1B7E4EC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41" name="Title 1">
              <a:extLst>
                <a:ext uri="{FF2B5EF4-FFF2-40B4-BE49-F238E27FC236}">
                  <a16:creationId xmlns:a16="http://schemas.microsoft.com/office/drawing/2014/main" id="{3438069B-78AD-4AE4-BBDD-5D7221EB01D3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EF1D0C4-FC97-4C37-A2B1-E4CA5B6C4AC0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DynamicPATCH</a:t>
              </a:r>
              <a:endPara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864BD4C-7C08-4FC4-8A35-7B0870D28BF3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6AF8DE9-592F-430B-98DB-0EE2A4DFA572}"/>
              </a:ext>
            </a:extLst>
          </p:cNvPr>
          <p:cNvSpPr txBox="1"/>
          <p:nvPr/>
        </p:nvSpPr>
        <p:spPr>
          <a:xfrm>
            <a:off x="1014413" y="459467"/>
            <a:ext cx="10710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How does </a:t>
            </a:r>
            <a:r>
              <a:rPr lang="en-US" sz="2400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DynamicPATCH</a:t>
            </a:r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 quantify gross changes?</a:t>
            </a:r>
          </a:p>
        </p:txBody>
      </p:sp>
    </p:spTree>
    <p:extLst>
      <p:ext uri="{BB962C8B-B14F-4D97-AF65-F5344CB8AC3E}">
        <p14:creationId xmlns:p14="http://schemas.microsoft.com/office/powerpoint/2010/main" val="414155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6EFA8-E770-47DB-A5E8-11532798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12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3571C9-CD91-4FA3-92F5-69ADE8035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7992"/>
            <a:ext cx="12192000" cy="328201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7DB9048-1992-44CC-89E3-ECD0880044CC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F47E92D0-F792-490B-8824-CF3BCECE49B7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93278C-FF34-485D-BEF1-E3E253C61899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 err="1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DynamicPATCH</a:t>
              </a:r>
              <a:endPara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15A7A1-EAB9-4E59-866A-06CA121D2C90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C3D7C6-B024-409B-9AAD-54BE8B53FD8D}"/>
              </a:ext>
            </a:extLst>
          </p:cNvPr>
          <p:cNvSpPr txBox="1"/>
          <p:nvPr/>
        </p:nvSpPr>
        <p:spPr>
          <a:xfrm>
            <a:off x="1014413" y="459467"/>
            <a:ext cx="10710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How does </a:t>
            </a:r>
            <a:r>
              <a:rPr lang="en-US" sz="2400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DynamicPATCH</a:t>
            </a:r>
            <a:r>
              <a:rPr lang="en-US" sz="2400" b="1" dirty="0">
                <a:latin typeface="Century Gothic" panose="020B0502020202020204" pitchFamily="34" charset="0"/>
                <a:cs typeface="Arial" panose="020B0604020202020204" pitchFamily="34" charset="0"/>
              </a:rPr>
              <a:t> quantify gross changes?</a:t>
            </a:r>
          </a:p>
        </p:txBody>
      </p:sp>
    </p:spTree>
    <p:extLst>
      <p:ext uri="{BB962C8B-B14F-4D97-AF65-F5344CB8AC3E}">
        <p14:creationId xmlns:p14="http://schemas.microsoft.com/office/powerpoint/2010/main" val="6193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DE9F1F-38A9-405D-9575-274E0D92244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925" y="1581149"/>
            <a:ext cx="4845504" cy="30772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7C6E9C-A7D1-1D10-3CC3-8E1E504836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2423" y="1818870"/>
            <a:ext cx="7607921" cy="3077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92F859-53FA-4C02-B1E8-7251F78BDD82}"/>
              </a:ext>
            </a:extLst>
          </p:cNvPr>
          <p:cNvSpPr txBox="1"/>
          <p:nvPr/>
        </p:nvSpPr>
        <p:spPr>
          <a:xfrm>
            <a:off x="161925" y="4949181"/>
            <a:ext cx="11088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a typeface="DengXian" panose="02010600030101010101" pitchFamily="2" charset="-122"/>
              </a:rPr>
              <a:t>Study area: Long Term Ecological Research Network’s  Plum Island Ecosystems (PIE-LTER)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5E2BBB-6AFD-B1D4-3977-A5A26B85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E8FB18-4504-4A6F-ACDC-9744104CC9C5}"/>
              </a:ext>
            </a:extLst>
          </p:cNvPr>
          <p:cNvGrpSpPr/>
          <p:nvPr/>
        </p:nvGrpSpPr>
        <p:grpSpPr>
          <a:xfrm>
            <a:off x="55690" y="-27034"/>
            <a:ext cx="12355385" cy="954107"/>
            <a:chOff x="55690" y="-27034"/>
            <a:chExt cx="12355385" cy="954107"/>
          </a:xfrm>
        </p:grpSpPr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A91C5201-125F-40AA-A305-AD838A59B74D}"/>
                </a:ext>
              </a:extLst>
            </p:cNvPr>
            <p:cNvSpPr txBox="1">
              <a:spLocks/>
            </p:cNvSpPr>
            <p:nvPr/>
          </p:nvSpPr>
          <p:spPr>
            <a:xfrm>
              <a:off x="55690" y="73873"/>
              <a:ext cx="12355385" cy="835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9F961D-94A2-44BF-A6F6-C3F6A7909668}"/>
                </a:ext>
              </a:extLst>
            </p:cNvPr>
            <p:cNvSpPr/>
            <p:nvPr/>
          </p:nvSpPr>
          <p:spPr>
            <a:xfrm>
              <a:off x="83312" y="-27034"/>
              <a:ext cx="1210868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Case study at PIE-LTER</a:t>
              </a:r>
            </a:p>
            <a:p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Study Area</a:t>
              </a:r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9FEFE7-9C52-4474-9A91-65D5683A62AC}"/>
                </a:ext>
              </a:extLst>
            </p:cNvPr>
            <p:cNvSpPr/>
            <p:nvPr/>
          </p:nvSpPr>
          <p:spPr>
            <a:xfrm>
              <a:off x="55690" y="73024"/>
              <a:ext cx="45719" cy="7885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237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822B618-6203-622E-D0D1-CDD367AE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ED72C4-7D5D-4A8A-BDCF-CE8452DF6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45" y="4173587"/>
            <a:ext cx="5194396" cy="2657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3D9F93-DE81-4D40-947C-5D0B490A5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45" y="1516585"/>
            <a:ext cx="5235035" cy="26570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B848FB-E959-4803-8B50-7918401FDC90}"/>
              </a:ext>
            </a:extLst>
          </p:cNvPr>
          <p:cNvSpPr txBox="1"/>
          <p:nvPr/>
        </p:nvSpPr>
        <p:spPr>
          <a:xfrm>
            <a:off x="2223405" y="1515988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1971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552E51-0B60-4DFF-8748-04E0E394F0CE}"/>
              </a:ext>
            </a:extLst>
          </p:cNvPr>
          <p:cNvSpPr txBox="1"/>
          <p:nvPr/>
        </p:nvSpPr>
        <p:spPr>
          <a:xfrm>
            <a:off x="2223404" y="4173587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2013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10608E8-9A3B-4FBC-9018-8CFD76FCD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7974" y="2284560"/>
            <a:ext cx="5188368" cy="2645050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A2BF2444-9046-4980-8050-12CAA8D90C73}"/>
              </a:ext>
            </a:extLst>
          </p:cNvPr>
          <p:cNvGrpSpPr/>
          <p:nvPr/>
        </p:nvGrpSpPr>
        <p:grpSpPr>
          <a:xfrm>
            <a:off x="5562600" y="6558018"/>
            <a:ext cx="684593" cy="276999"/>
            <a:chOff x="5562600" y="2350050"/>
            <a:chExt cx="684593" cy="27699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FB9CC87-8DB0-4C9E-9271-998E14112EAC}"/>
                </a:ext>
              </a:extLst>
            </p:cNvPr>
            <p:cNvSpPr/>
            <p:nvPr/>
          </p:nvSpPr>
          <p:spPr>
            <a:xfrm>
              <a:off x="5562600" y="2428875"/>
              <a:ext cx="124460" cy="119351"/>
            </a:xfrm>
            <a:prstGeom prst="rect">
              <a:avLst/>
            </a:prstGeom>
            <a:solidFill>
              <a:srgbClr val="00A9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2327F82-50DC-477D-9394-879A7AEFE0B4}"/>
                </a:ext>
              </a:extLst>
            </p:cNvPr>
            <p:cNvSpPr txBox="1"/>
            <p:nvPr/>
          </p:nvSpPr>
          <p:spPr>
            <a:xfrm>
              <a:off x="5661977" y="2350050"/>
              <a:ext cx="5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Pond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6AFA1CE-5359-4B72-B751-9B7617AE144C}"/>
              </a:ext>
            </a:extLst>
          </p:cNvPr>
          <p:cNvGrpSpPr/>
          <p:nvPr/>
        </p:nvGrpSpPr>
        <p:grpSpPr>
          <a:xfrm>
            <a:off x="55690" y="-27034"/>
            <a:ext cx="12355385" cy="954107"/>
            <a:chOff x="55690" y="-27034"/>
            <a:chExt cx="12355385" cy="954107"/>
          </a:xfrm>
        </p:grpSpPr>
        <p:sp>
          <p:nvSpPr>
            <p:cNvPr id="57" name="Title 1">
              <a:extLst>
                <a:ext uri="{FF2B5EF4-FFF2-40B4-BE49-F238E27FC236}">
                  <a16:creationId xmlns:a16="http://schemas.microsoft.com/office/drawing/2014/main" id="{D891F970-64D8-46F8-BBD3-E816146E9825}"/>
                </a:ext>
              </a:extLst>
            </p:cNvPr>
            <p:cNvSpPr txBox="1">
              <a:spLocks/>
            </p:cNvSpPr>
            <p:nvPr/>
          </p:nvSpPr>
          <p:spPr>
            <a:xfrm>
              <a:off x="55690" y="73873"/>
              <a:ext cx="12355385" cy="835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DE234BD-2883-4540-8B78-EBF9B49B3AD4}"/>
                </a:ext>
              </a:extLst>
            </p:cNvPr>
            <p:cNvSpPr/>
            <p:nvPr/>
          </p:nvSpPr>
          <p:spPr>
            <a:xfrm>
              <a:off x="83312" y="-27034"/>
              <a:ext cx="1210868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Case study at PIE-LTER</a:t>
              </a:r>
            </a:p>
            <a:p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Results</a:t>
              </a:r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DB3B3F2-279B-4139-9A2B-3A51A8623518}"/>
                </a:ext>
              </a:extLst>
            </p:cNvPr>
            <p:cNvSpPr/>
            <p:nvPr/>
          </p:nvSpPr>
          <p:spPr>
            <a:xfrm>
              <a:off x="55690" y="73024"/>
              <a:ext cx="45719" cy="7885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3EDAE51F-E603-4FDE-8573-478EB26C883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52659" y="4908000"/>
            <a:ext cx="6439094" cy="6050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CFB995-AD85-4890-8672-DD152A236BCA}"/>
              </a:ext>
            </a:extLst>
          </p:cNvPr>
          <p:cNvSpPr/>
          <p:nvPr/>
        </p:nvSpPr>
        <p:spPr>
          <a:xfrm>
            <a:off x="7770495" y="5166359"/>
            <a:ext cx="188596" cy="78105"/>
          </a:xfrm>
          <a:prstGeom prst="rect">
            <a:avLst/>
          </a:prstGeom>
          <a:solidFill>
            <a:srgbClr val="DF7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7173B1-556A-403A-9E1F-9BD8006334E7}"/>
              </a:ext>
            </a:extLst>
          </p:cNvPr>
          <p:cNvSpPr/>
          <p:nvPr/>
        </p:nvSpPr>
        <p:spPr>
          <a:xfrm>
            <a:off x="8825865" y="5166358"/>
            <a:ext cx="188596" cy="78105"/>
          </a:xfrm>
          <a:prstGeom prst="rect">
            <a:avLst/>
          </a:prstGeom>
          <a:solidFill>
            <a:srgbClr val="E64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B8C8D9-37C8-4929-8D0D-C4A5CFF58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45" y="4173587"/>
            <a:ext cx="5194396" cy="26575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AA288A-7329-41BE-AB38-BCA4C2C76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45" y="1516585"/>
            <a:ext cx="5235035" cy="26570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FCDC5E6-90F1-430E-98D8-E434E2023D77}"/>
              </a:ext>
            </a:extLst>
          </p:cNvPr>
          <p:cNvSpPr txBox="1"/>
          <p:nvPr/>
        </p:nvSpPr>
        <p:spPr>
          <a:xfrm>
            <a:off x="2223405" y="1515988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1971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F71C89-FD94-4893-AE34-34F0ECDF0B38}"/>
              </a:ext>
            </a:extLst>
          </p:cNvPr>
          <p:cNvSpPr txBox="1"/>
          <p:nvPr/>
        </p:nvSpPr>
        <p:spPr>
          <a:xfrm>
            <a:off x="2223404" y="4173587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2013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7F3D8C-E7B3-417F-9E0D-5AC2F54994F0}"/>
              </a:ext>
            </a:extLst>
          </p:cNvPr>
          <p:cNvGrpSpPr/>
          <p:nvPr/>
        </p:nvGrpSpPr>
        <p:grpSpPr>
          <a:xfrm>
            <a:off x="1178269" y="2548226"/>
            <a:ext cx="7051331" cy="3991767"/>
            <a:chOff x="1178269" y="2548226"/>
            <a:chExt cx="7051331" cy="39917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15208E-B06D-46F4-AA27-B26C193BF571}"/>
                </a:ext>
              </a:extLst>
            </p:cNvPr>
            <p:cNvSpPr/>
            <p:nvPr/>
          </p:nvSpPr>
          <p:spPr>
            <a:xfrm>
              <a:off x="7458439" y="3305175"/>
              <a:ext cx="771161" cy="13430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1D5EEE5-E0F4-499E-B6C2-578E713E51A4}"/>
                </a:ext>
              </a:extLst>
            </p:cNvPr>
            <p:cNvSpPr/>
            <p:nvPr/>
          </p:nvSpPr>
          <p:spPr>
            <a:xfrm>
              <a:off x="1200514" y="2548226"/>
              <a:ext cx="771161" cy="13430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FD2550-7099-4B18-B357-7D9DBB5F9C52}"/>
                </a:ext>
              </a:extLst>
            </p:cNvPr>
            <p:cNvSpPr/>
            <p:nvPr/>
          </p:nvSpPr>
          <p:spPr>
            <a:xfrm>
              <a:off x="1178269" y="5196968"/>
              <a:ext cx="771161" cy="13430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83D896-539C-46D6-8FBE-D6F0A71E7BBD}"/>
              </a:ext>
            </a:extLst>
          </p:cNvPr>
          <p:cNvGrpSpPr/>
          <p:nvPr/>
        </p:nvGrpSpPr>
        <p:grpSpPr>
          <a:xfrm>
            <a:off x="366469" y="3416638"/>
            <a:ext cx="7051331" cy="3304330"/>
            <a:chOff x="366469" y="3416638"/>
            <a:chExt cx="7051331" cy="330433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A9C5801-7BB7-4B46-A6A6-26A4699742AB}"/>
                </a:ext>
              </a:extLst>
            </p:cNvPr>
            <p:cNvSpPr/>
            <p:nvPr/>
          </p:nvSpPr>
          <p:spPr>
            <a:xfrm>
              <a:off x="6646639" y="4173587"/>
              <a:ext cx="771161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5DDC4A4-93FC-432A-B948-368246E21B5F}"/>
                </a:ext>
              </a:extLst>
            </p:cNvPr>
            <p:cNvSpPr/>
            <p:nvPr/>
          </p:nvSpPr>
          <p:spPr>
            <a:xfrm>
              <a:off x="388714" y="3416638"/>
              <a:ext cx="771161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3E3B58-42AB-477A-8E97-E9B0A4DA4A32}"/>
                </a:ext>
              </a:extLst>
            </p:cNvPr>
            <p:cNvSpPr/>
            <p:nvPr/>
          </p:nvSpPr>
          <p:spPr>
            <a:xfrm>
              <a:off x="366469" y="6065380"/>
              <a:ext cx="771161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05D4FC7-5936-4C59-B49A-5CE8738B1947}"/>
              </a:ext>
            </a:extLst>
          </p:cNvPr>
          <p:cNvGrpSpPr/>
          <p:nvPr/>
        </p:nvGrpSpPr>
        <p:grpSpPr>
          <a:xfrm>
            <a:off x="2811988" y="3145235"/>
            <a:ext cx="6951137" cy="3304330"/>
            <a:chOff x="2811988" y="3145235"/>
            <a:chExt cx="6951137" cy="33043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D76252C-2C42-49F7-8D48-DFBE87E70563}"/>
                </a:ext>
              </a:extLst>
            </p:cNvPr>
            <p:cNvSpPr/>
            <p:nvPr/>
          </p:nvSpPr>
          <p:spPr>
            <a:xfrm>
              <a:off x="9092158" y="3902184"/>
              <a:ext cx="670967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5ED4C5B-3132-4CC9-8A2F-ECC8B2651E34}"/>
                </a:ext>
              </a:extLst>
            </p:cNvPr>
            <p:cNvSpPr/>
            <p:nvPr/>
          </p:nvSpPr>
          <p:spPr>
            <a:xfrm>
              <a:off x="2834233" y="3145235"/>
              <a:ext cx="670967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F053B29-6C97-4B9C-89B4-2F2228DE645D}"/>
                </a:ext>
              </a:extLst>
            </p:cNvPr>
            <p:cNvSpPr/>
            <p:nvPr/>
          </p:nvSpPr>
          <p:spPr>
            <a:xfrm>
              <a:off x="2811988" y="5793977"/>
              <a:ext cx="670967" cy="65558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0E27AB-3292-49BF-98A0-C8BD2C609D3A}"/>
              </a:ext>
            </a:extLst>
          </p:cNvPr>
          <p:cNvGrpSpPr/>
          <p:nvPr/>
        </p:nvGrpSpPr>
        <p:grpSpPr>
          <a:xfrm>
            <a:off x="4140180" y="3413573"/>
            <a:ext cx="6654186" cy="2897820"/>
            <a:chOff x="4140180" y="3413573"/>
            <a:chExt cx="6654186" cy="28978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CEBE7C-DD6E-455C-A27F-391005901863}"/>
                </a:ext>
              </a:extLst>
            </p:cNvPr>
            <p:cNvSpPr/>
            <p:nvPr/>
          </p:nvSpPr>
          <p:spPr>
            <a:xfrm>
              <a:off x="10420350" y="4170522"/>
              <a:ext cx="374016" cy="2490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ED5FB2-6A4B-49D7-A921-04DF906218F2}"/>
                </a:ext>
              </a:extLst>
            </p:cNvPr>
            <p:cNvSpPr/>
            <p:nvPr/>
          </p:nvSpPr>
          <p:spPr>
            <a:xfrm>
              <a:off x="4162425" y="3413573"/>
              <a:ext cx="374016" cy="2490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8F909CE-CA15-4431-8F46-38054D8F03A7}"/>
                </a:ext>
              </a:extLst>
            </p:cNvPr>
            <p:cNvSpPr/>
            <p:nvPr/>
          </p:nvSpPr>
          <p:spPr>
            <a:xfrm>
              <a:off x="4140180" y="6062315"/>
              <a:ext cx="374016" cy="24907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F707E3D-A76C-4D6B-B819-A78B222E6E6A}"/>
              </a:ext>
            </a:extLst>
          </p:cNvPr>
          <p:cNvGrpSpPr/>
          <p:nvPr/>
        </p:nvGrpSpPr>
        <p:grpSpPr>
          <a:xfrm>
            <a:off x="4327188" y="1600286"/>
            <a:ext cx="6778962" cy="3215682"/>
            <a:chOff x="4327188" y="1600286"/>
            <a:chExt cx="6778962" cy="3215682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917704-24B5-4A30-8942-F47D5B534B28}"/>
                </a:ext>
              </a:extLst>
            </p:cNvPr>
            <p:cNvSpPr/>
            <p:nvPr/>
          </p:nvSpPr>
          <p:spPr>
            <a:xfrm>
              <a:off x="10607358" y="2357235"/>
              <a:ext cx="498792" cy="5669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894BACF-52C7-4742-9FCD-15AB1E588B1B}"/>
                </a:ext>
              </a:extLst>
            </p:cNvPr>
            <p:cNvSpPr/>
            <p:nvPr/>
          </p:nvSpPr>
          <p:spPr>
            <a:xfrm>
              <a:off x="4349433" y="1600286"/>
              <a:ext cx="498792" cy="5669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74BDA79-8851-4171-B772-DEAAD2FFBD02}"/>
                </a:ext>
              </a:extLst>
            </p:cNvPr>
            <p:cNvSpPr/>
            <p:nvPr/>
          </p:nvSpPr>
          <p:spPr>
            <a:xfrm>
              <a:off x="4327188" y="4249028"/>
              <a:ext cx="498792" cy="56694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F8F4B8-B151-41CA-804E-58E12BBAE9C0}"/>
              </a:ext>
            </a:extLst>
          </p:cNvPr>
          <p:cNvGrpSpPr/>
          <p:nvPr/>
        </p:nvGrpSpPr>
        <p:grpSpPr>
          <a:xfrm>
            <a:off x="5562600" y="6558018"/>
            <a:ext cx="684593" cy="276999"/>
            <a:chOff x="5562600" y="2350050"/>
            <a:chExt cx="684593" cy="27699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7AD7C33-1B2A-47AE-9200-570D5EC51664}"/>
                </a:ext>
              </a:extLst>
            </p:cNvPr>
            <p:cNvSpPr/>
            <p:nvPr/>
          </p:nvSpPr>
          <p:spPr>
            <a:xfrm>
              <a:off x="5562600" y="2428875"/>
              <a:ext cx="124460" cy="119351"/>
            </a:xfrm>
            <a:prstGeom prst="rect">
              <a:avLst/>
            </a:prstGeom>
            <a:solidFill>
              <a:srgbClr val="00A9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CE79B5-5B7C-4FAB-A791-18B366AC669A}"/>
                </a:ext>
              </a:extLst>
            </p:cNvPr>
            <p:cNvSpPr txBox="1"/>
            <p:nvPr/>
          </p:nvSpPr>
          <p:spPr>
            <a:xfrm>
              <a:off x="5661977" y="2350050"/>
              <a:ext cx="585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Pond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224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10573EF-8F55-4E1E-B69F-68E4E63B09C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0486" y="5017789"/>
            <a:ext cx="6439094" cy="6050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E6735B-3AE2-070A-0C54-8FD97FB3C1E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0200" y="1313159"/>
            <a:ext cx="5288101" cy="38733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F71BA1-ED52-BA4B-F864-1014268C07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56" t="2852"/>
          <a:stretch/>
        </p:blipFill>
        <p:spPr>
          <a:xfrm>
            <a:off x="6426216" y="1267467"/>
            <a:ext cx="5288102" cy="38733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431789-D350-9C1E-E997-B420702C5AA7}"/>
              </a:ext>
            </a:extLst>
          </p:cNvPr>
          <p:cNvSpPr txBox="1"/>
          <p:nvPr/>
        </p:nvSpPr>
        <p:spPr>
          <a:xfrm>
            <a:off x="1389446" y="891346"/>
            <a:ext cx="116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196C6-D1D5-A095-FAA5-2314A1FFA635}"/>
              </a:ext>
            </a:extLst>
          </p:cNvPr>
          <p:cNvSpPr txBox="1"/>
          <p:nvPr/>
        </p:nvSpPr>
        <p:spPr>
          <a:xfrm>
            <a:off x="4126992" y="892803"/>
            <a:ext cx="70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C5EEF-5E3E-B04A-164E-CDEAB1B2DBF6}"/>
              </a:ext>
            </a:extLst>
          </p:cNvPr>
          <p:cNvSpPr txBox="1"/>
          <p:nvPr/>
        </p:nvSpPr>
        <p:spPr>
          <a:xfrm>
            <a:off x="10071275" y="845654"/>
            <a:ext cx="70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Pond</a:t>
            </a:r>
          </a:p>
        </p:txBody>
      </p:sp>
      <p:pic>
        <p:nvPicPr>
          <p:cNvPr id="12" name="Picture 11" descr="A white triangle on a black background&#10;&#10;Description automatically generated">
            <a:extLst>
              <a:ext uri="{FF2B5EF4-FFF2-40B4-BE49-F238E27FC236}">
                <a16:creationId xmlns:a16="http://schemas.microsoft.com/office/drawing/2014/main" id="{FC7EA79F-880E-6864-99E6-CBCF369EA5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034" y="4373941"/>
            <a:ext cx="623381" cy="6233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EE66A4-F4AB-2BD7-04E2-6854EBBE8E4A}"/>
              </a:ext>
            </a:extLst>
          </p:cNvPr>
          <p:cNvSpPr txBox="1"/>
          <p:nvPr/>
        </p:nvSpPr>
        <p:spPr>
          <a:xfrm>
            <a:off x="7339258" y="845654"/>
            <a:ext cx="116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91296-43B0-1908-9305-1352CCDC5BC4}"/>
              </a:ext>
            </a:extLst>
          </p:cNvPr>
          <p:cNvSpPr txBox="1"/>
          <p:nvPr/>
        </p:nvSpPr>
        <p:spPr>
          <a:xfrm>
            <a:off x="2117568" y="5540605"/>
            <a:ext cx="182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1938 - 1971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2867A-8810-7F3B-6567-B5DE1F1F644D}"/>
              </a:ext>
            </a:extLst>
          </p:cNvPr>
          <p:cNvSpPr txBox="1"/>
          <p:nvPr/>
        </p:nvSpPr>
        <p:spPr>
          <a:xfrm>
            <a:off x="8596951" y="5540605"/>
            <a:ext cx="182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1971 - 2013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64F1A-DB1E-86FE-3D0B-3607D679FCBC}"/>
              </a:ext>
            </a:extLst>
          </p:cNvPr>
          <p:cNvSpPr txBox="1"/>
          <p:nvPr/>
        </p:nvSpPr>
        <p:spPr>
          <a:xfrm>
            <a:off x="310210" y="5976863"/>
            <a:ext cx="108561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ea typeface="SimSun" panose="02010600030101010101" pitchFamily="2" charset="-122"/>
              </a:rPr>
              <a:t>DynamicPATCH</a:t>
            </a:r>
            <a:r>
              <a:rPr lang="en-US" sz="2000" b="1" dirty="0">
                <a:effectLst/>
                <a:ea typeface="SimSun" panose="02010600030101010101" pitchFamily="2" charset="-122"/>
              </a:rPr>
              <a:t> creates maps of transition patterns in Marsh and Pond at PIE. Where each map shows two types of stable and eight types of transitions. </a:t>
            </a:r>
            <a:endParaRPr lang="en-US" sz="2000" b="1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1384B6A-2E3D-92ED-CDA3-EB818B39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15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524A7C-B32C-4D00-ABFD-FCDF3C579AD2}"/>
              </a:ext>
            </a:extLst>
          </p:cNvPr>
          <p:cNvGrpSpPr/>
          <p:nvPr/>
        </p:nvGrpSpPr>
        <p:grpSpPr>
          <a:xfrm>
            <a:off x="55690" y="-27034"/>
            <a:ext cx="12355385" cy="954107"/>
            <a:chOff x="55690" y="-27034"/>
            <a:chExt cx="12355385" cy="954107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51D7CD82-044F-45FC-9B34-9AFA02170126}"/>
                </a:ext>
              </a:extLst>
            </p:cNvPr>
            <p:cNvSpPr txBox="1">
              <a:spLocks/>
            </p:cNvSpPr>
            <p:nvPr/>
          </p:nvSpPr>
          <p:spPr>
            <a:xfrm>
              <a:off x="55690" y="73873"/>
              <a:ext cx="12355385" cy="835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5C4F5C-EE8C-4D2A-9AAC-FC1FD5715F15}"/>
                </a:ext>
              </a:extLst>
            </p:cNvPr>
            <p:cNvSpPr/>
            <p:nvPr/>
          </p:nvSpPr>
          <p:spPr>
            <a:xfrm>
              <a:off x="83312" y="-27034"/>
              <a:ext cx="1210868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Case study at PIE-LTER</a:t>
              </a:r>
            </a:p>
            <a:p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Results</a:t>
              </a:r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D5E0E8-EABF-4E18-B3C6-D3D9BC1504A8}"/>
                </a:ext>
              </a:extLst>
            </p:cNvPr>
            <p:cNvSpPr/>
            <p:nvPr/>
          </p:nvSpPr>
          <p:spPr>
            <a:xfrm>
              <a:off x="55690" y="73024"/>
              <a:ext cx="45719" cy="7885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399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E50ABC-FCEA-45DD-86E0-6B1C6DB2674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95499"/>
            <a:ext cx="11991214" cy="29712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2D346E-F095-B6C0-E3E5-E100C72ADAAE}"/>
              </a:ext>
            </a:extLst>
          </p:cNvPr>
          <p:cNvSpPr txBox="1"/>
          <p:nvPr/>
        </p:nvSpPr>
        <p:spPr>
          <a:xfrm>
            <a:off x="2573002" y="1656119"/>
            <a:ext cx="116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D5232-FCBE-9B22-8E45-823C05357D80}"/>
              </a:ext>
            </a:extLst>
          </p:cNvPr>
          <p:cNvSpPr txBox="1"/>
          <p:nvPr/>
        </p:nvSpPr>
        <p:spPr>
          <a:xfrm>
            <a:off x="8302034" y="1656119"/>
            <a:ext cx="70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7677E-7AE3-958B-1214-540321CD826E}"/>
              </a:ext>
            </a:extLst>
          </p:cNvPr>
          <p:cNvSpPr txBox="1"/>
          <p:nvPr/>
        </p:nvSpPr>
        <p:spPr>
          <a:xfrm>
            <a:off x="41656" y="854325"/>
            <a:ext cx="11822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DynamicPATCH</a:t>
            </a:r>
            <a:r>
              <a:rPr lang="en-US" sz="2400" b="1" dirty="0"/>
              <a:t> quantifies </a:t>
            </a:r>
            <a:r>
              <a:rPr lang="en-US" sz="2400" b="1" dirty="0">
                <a:solidFill>
                  <a:srgbClr val="FF0000"/>
                </a:solidFill>
              </a:rPr>
              <a:t>annual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gross change in </a:t>
            </a:r>
            <a:r>
              <a:rPr lang="en-US" sz="2400" b="1" dirty="0"/>
              <a:t>both the </a:t>
            </a:r>
            <a:r>
              <a:rPr lang="en-US" sz="2400" b="1" dirty="0">
                <a:solidFill>
                  <a:srgbClr val="FF0000"/>
                </a:solidFill>
              </a:rPr>
              <a:t>area</a:t>
            </a:r>
            <a:r>
              <a:rPr lang="en-US" sz="2400" b="1" dirty="0"/>
              <a:t> and number of patches, revealing gross changes that are much larger than net changes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9D6934-CBE0-BC9C-A4D7-6B79A03D4EB3}"/>
              </a:ext>
            </a:extLst>
          </p:cNvPr>
          <p:cNvSpPr txBox="1"/>
          <p:nvPr/>
        </p:nvSpPr>
        <p:spPr>
          <a:xfrm>
            <a:off x="6233382" y="5247562"/>
            <a:ext cx="4950206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en-US" sz="1800" dirty="0">
                <a:cs typeface="Arial" panose="020B0604020202020204" pitchFamily="34" charset="0"/>
              </a:rPr>
              <a:t>Gross gains of pond area are more than twice the size of gross losses of pond area.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BE00F0-F863-2D12-6612-F398DE5B235A}"/>
              </a:ext>
            </a:extLst>
          </p:cNvPr>
          <p:cNvSpPr txBox="1"/>
          <p:nvPr/>
        </p:nvSpPr>
        <p:spPr>
          <a:xfrm>
            <a:off x="581882" y="5187150"/>
            <a:ext cx="4950206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en-US" dirty="0">
                <a:cs typeface="Arial" panose="020B0604020202020204" pitchFamily="34" charset="0"/>
              </a:rPr>
              <a:t>Perforating and Contracting account for most gross loss in Marsh area (89%); Expanding and Filling account for most gross gain in Marsh area (94%).</a:t>
            </a:r>
            <a:endParaRPr lang="en-US" sz="1800" dirty="0"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2DAD35D-144A-25F0-A597-EF7ACC3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16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54C031-EE70-4335-B286-99FC4D2EBC16}"/>
              </a:ext>
            </a:extLst>
          </p:cNvPr>
          <p:cNvGrpSpPr/>
          <p:nvPr/>
        </p:nvGrpSpPr>
        <p:grpSpPr>
          <a:xfrm>
            <a:off x="55690" y="-27034"/>
            <a:ext cx="12355385" cy="954107"/>
            <a:chOff x="55690" y="-27034"/>
            <a:chExt cx="12355385" cy="954107"/>
          </a:xfrm>
        </p:grpSpPr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92D70758-A47C-47CB-8346-70E5E99E8874}"/>
                </a:ext>
              </a:extLst>
            </p:cNvPr>
            <p:cNvSpPr txBox="1">
              <a:spLocks/>
            </p:cNvSpPr>
            <p:nvPr/>
          </p:nvSpPr>
          <p:spPr>
            <a:xfrm>
              <a:off x="55690" y="73873"/>
              <a:ext cx="12355385" cy="835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CAFEBE-C7D5-43F4-BBE6-BF52D1215364}"/>
                </a:ext>
              </a:extLst>
            </p:cNvPr>
            <p:cNvSpPr/>
            <p:nvPr/>
          </p:nvSpPr>
          <p:spPr>
            <a:xfrm>
              <a:off x="83312" y="-27034"/>
              <a:ext cx="1210868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Case study at PIE-LTER</a:t>
              </a:r>
            </a:p>
            <a:p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Results</a:t>
              </a:r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0A6C96-0763-41F5-9F15-8301EA13D87A}"/>
                </a:ext>
              </a:extLst>
            </p:cNvPr>
            <p:cNvSpPr/>
            <p:nvPr/>
          </p:nvSpPr>
          <p:spPr>
            <a:xfrm>
              <a:off x="55690" y="73024"/>
              <a:ext cx="45719" cy="7885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958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E50ABC-FCEA-45DD-86E0-6B1C6DB2674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06"/>
          <a:stretch/>
        </p:blipFill>
        <p:spPr>
          <a:xfrm>
            <a:off x="100393" y="2109788"/>
            <a:ext cx="11991214" cy="3013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2D346E-F095-B6C0-E3E5-E100C72ADAAE}"/>
              </a:ext>
            </a:extLst>
          </p:cNvPr>
          <p:cNvSpPr txBox="1"/>
          <p:nvPr/>
        </p:nvSpPr>
        <p:spPr>
          <a:xfrm>
            <a:off x="2573002" y="1656119"/>
            <a:ext cx="116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D5232-FCBE-9B22-8E45-823C05357D80}"/>
              </a:ext>
            </a:extLst>
          </p:cNvPr>
          <p:cNvSpPr txBox="1"/>
          <p:nvPr/>
        </p:nvSpPr>
        <p:spPr>
          <a:xfrm>
            <a:off x="8302034" y="1656119"/>
            <a:ext cx="70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7677E-7AE3-958B-1214-540321CD826E}"/>
              </a:ext>
            </a:extLst>
          </p:cNvPr>
          <p:cNvSpPr txBox="1"/>
          <p:nvPr/>
        </p:nvSpPr>
        <p:spPr>
          <a:xfrm>
            <a:off x="41656" y="854325"/>
            <a:ext cx="11822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DynamicPATCH</a:t>
            </a:r>
            <a:r>
              <a:rPr lang="en-US" sz="2400" b="1" dirty="0"/>
              <a:t> quantifies </a:t>
            </a:r>
            <a:r>
              <a:rPr lang="en-US" sz="2400" b="1" dirty="0">
                <a:solidFill>
                  <a:srgbClr val="FF0000"/>
                </a:solidFill>
              </a:rPr>
              <a:t>annual gross change </a:t>
            </a:r>
            <a:r>
              <a:rPr lang="en-US" sz="2400" b="1" dirty="0"/>
              <a:t>in both the area and </a:t>
            </a:r>
            <a:r>
              <a:rPr lang="en-US" sz="2400" b="1" dirty="0">
                <a:solidFill>
                  <a:srgbClr val="FF0000"/>
                </a:solidFill>
              </a:rPr>
              <a:t>number of patches</a:t>
            </a:r>
            <a:r>
              <a:rPr lang="en-US" sz="2400" b="1" dirty="0"/>
              <a:t>, revealing gross changes that are much larger than net changes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9D6934-CBE0-BC9C-A4D7-6B79A03D4EB3}"/>
              </a:ext>
            </a:extLst>
          </p:cNvPr>
          <p:cNvSpPr txBox="1"/>
          <p:nvPr/>
        </p:nvSpPr>
        <p:spPr>
          <a:xfrm>
            <a:off x="6233382" y="5183175"/>
            <a:ext cx="4950206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en-US" sz="1800" dirty="0">
                <a:cs typeface="Arial" panose="020B0604020202020204" pitchFamily="34" charset="0"/>
              </a:rPr>
              <a:t>Appearing and Disappearing account for most gross change in number of Ponds, which is ten times greater than the </a:t>
            </a:r>
            <a:r>
              <a:rPr lang="en-US" altLang="zh-CN" sz="1800" dirty="0">
                <a:cs typeface="Arial" panose="020B0604020202020204" pitchFamily="34" charset="0"/>
              </a:rPr>
              <a:t>net change in number of Ponds.</a:t>
            </a:r>
            <a:endParaRPr lang="en-US" sz="1800" dirty="0"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BE00F0-F863-2D12-6612-F398DE5B235A}"/>
              </a:ext>
            </a:extLst>
          </p:cNvPr>
          <p:cNvSpPr txBox="1"/>
          <p:nvPr/>
        </p:nvSpPr>
        <p:spPr>
          <a:xfrm>
            <a:off x="581882" y="5187150"/>
            <a:ext cx="4950206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en-US" dirty="0">
                <a:cs typeface="Arial" panose="020B0604020202020204" pitchFamily="34" charset="0"/>
              </a:rPr>
              <a:t>Annual gross increase in the number of Marsh patches during the second time interval is 3.8 times greater than during the first time interval</a:t>
            </a:r>
            <a:endParaRPr lang="en-US" sz="1800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72E87-7393-690F-5450-CFD00EF2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17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3AA023-1129-49C2-9FCD-D8EB99E093DF}"/>
              </a:ext>
            </a:extLst>
          </p:cNvPr>
          <p:cNvGrpSpPr/>
          <p:nvPr/>
        </p:nvGrpSpPr>
        <p:grpSpPr>
          <a:xfrm>
            <a:off x="55690" y="-27034"/>
            <a:ext cx="12355385" cy="954107"/>
            <a:chOff x="55690" y="-27034"/>
            <a:chExt cx="12355385" cy="954107"/>
          </a:xfrm>
        </p:grpSpPr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8F4074B3-8306-40BE-BC90-98BAAE73D523}"/>
                </a:ext>
              </a:extLst>
            </p:cNvPr>
            <p:cNvSpPr txBox="1">
              <a:spLocks/>
            </p:cNvSpPr>
            <p:nvPr/>
          </p:nvSpPr>
          <p:spPr>
            <a:xfrm>
              <a:off x="55690" y="73873"/>
              <a:ext cx="12355385" cy="8353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ACDE69-85A2-487E-8BB6-71E4BCEF8687}"/>
                </a:ext>
              </a:extLst>
            </p:cNvPr>
            <p:cNvSpPr/>
            <p:nvPr/>
          </p:nvSpPr>
          <p:spPr>
            <a:xfrm>
              <a:off x="83312" y="-27034"/>
              <a:ext cx="1210868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Case study at PIE-LTER</a:t>
              </a:r>
            </a:p>
            <a:p>
              <a:r>
                <a:rPr lang="en-US" sz="2400" dirty="0">
                  <a:latin typeface="Century Gothic" panose="020B0502020202020204" pitchFamily="34" charset="0"/>
                  <a:cs typeface="Arial" panose="020B0604020202020204" pitchFamily="34" charset="0"/>
                </a:rPr>
                <a:t>Results</a:t>
              </a:r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27EF11-1D63-4AD7-9B15-B565F8B2323C}"/>
                </a:ext>
              </a:extLst>
            </p:cNvPr>
            <p:cNvSpPr/>
            <p:nvPr/>
          </p:nvSpPr>
          <p:spPr>
            <a:xfrm>
              <a:off x="55690" y="73024"/>
              <a:ext cx="45719" cy="7885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5698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C89E38-8C70-2C24-DD55-E3E95EBA2EF5}"/>
              </a:ext>
            </a:extLst>
          </p:cNvPr>
          <p:cNvSpPr txBox="1"/>
          <p:nvPr/>
        </p:nvSpPr>
        <p:spPr>
          <a:xfrm>
            <a:off x="123825" y="5128194"/>
            <a:ext cx="4857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Number of patches and area of Pond at PIE at three years, which show net change but not gross changes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E7C17F-5EA4-D482-DF94-3FE0904A0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163549"/>
              </p:ext>
            </p:extLst>
          </p:nvPr>
        </p:nvGraphicFramePr>
        <p:xfrm>
          <a:off x="5857896" y="4886884"/>
          <a:ext cx="5924551" cy="1005840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942895">
                  <a:extLst>
                    <a:ext uri="{9D8B030D-6E8A-4147-A177-3AD203B41FA5}">
                      <a16:colId xmlns:a16="http://schemas.microsoft.com/office/drawing/2014/main" val="3495485829"/>
                    </a:ext>
                  </a:extLst>
                </a:gridCol>
                <a:gridCol w="978713">
                  <a:extLst>
                    <a:ext uri="{9D8B030D-6E8A-4147-A177-3AD203B41FA5}">
                      <a16:colId xmlns:a16="http://schemas.microsoft.com/office/drawing/2014/main" val="470373948"/>
                    </a:ext>
                  </a:extLst>
                </a:gridCol>
                <a:gridCol w="1025179">
                  <a:extLst>
                    <a:ext uri="{9D8B030D-6E8A-4147-A177-3AD203B41FA5}">
                      <a16:colId xmlns:a16="http://schemas.microsoft.com/office/drawing/2014/main" val="1849493075"/>
                    </a:ext>
                  </a:extLst>
                </a:gridCol>
                <a:gridCol w="1025179">
                  <a:extLst>
                    <a:ext uri="{9D8B030D-6E8A-4147-A177-3AD203B41FA5}">
                      <a16:colId xmlns:a16="http://schemas.microsoft.com/office/drawing/2014/main" val="2512850897"/>
                    </a:ext>
                  </a:extLst>
                </a:gridCol>
                <a:gridCol w="1952585">
                  <a:extLst>
                    <a:ext uri="{9D8B030D-6E8A-4147-A177-3AD203B41FA5}">
                      <a16:colId xmlns:a16="http://schemas.microsoft.com/office/drawing/2014/main" val="593282873"/>
                    </a:ext>
                  </a:extLst>
                </a:gridCol>
              </a:tblGrid>
              <a:tr h="1035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Time Interval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Gross Increase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Gross Decrease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The sum of Gross Increase and Decrease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Net change in the number of patches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328909"/>
                  </a:ext>
                </a:extLst>
              </a:tr>
              <a:tr h="1035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1938 - 1971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631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631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1262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0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5902419"/>
                  </a:ext>
                </a:extLst>
              </a:tr>
              <a:tr h="1035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1971 - 2013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928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643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1571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285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0339792"/>
                  </a:ext>
                </a:extLst>
              </a:tr>
              <a:tr h="1035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Sum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1274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2833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285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330433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4A777EB-DFCA-06FB-B611-51A06D9BAB01}"/>
              </a:ext>
            </a:extLst>
          </p:cNvPr>
          <p:cNvSpPr txBox="1"/>
          <p:nvPr/>
        </p:nvSpPr>
        <p:spPr>
          <a:xfrm>
            <a:off x="399450" y="1206586"/>
            <a:ext cx="4667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ea typeface="SimSun" panose="02010600030101010101" pitchFamily="2" charset="-122"/>
              </a:rPr>
              <a:t>Traditional methods shows Pond experienced 0 net change during 1938 – 1971.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744B47-8F6C-7341-08E2-FB204097AA36}"/>
              </a:ext>
            </a:extLst>
          </p:cNvPr>
          <p:cNvSpPr txBox="1"/>
          <p:nvPr/>
        </p:nvSpPr>
        <p:spPr>
          <a:xfrm>
            <a:off x="5619752" y="1100988"/>
            <a:ext cx="6591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ea typeface="SimSun" panose="02010600030101010101" pitchFamily="2" charset="-122"/>
              </a:rPr>
              <a:t>DynamicPATCH</a:t>
            </a:r>
            <a:r>
              <a:rPr lang="en-US" sz="1800" dirty="0">
                <a:effectLst/>
                <a:ea typeface="SimSun" panose="02010600030101010101" pitchFamily="2" charset="-122"/>
              </a:rPr>
              <a:t> shows Pond experienced dramatic changes in number of patches. Where gross increase equals gross decrease during 1938 - 1971, resulting in a net change of zero patches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27CBF8-8E0F-AB1E-372E-FD6BC442E5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93" b="-3292"/>
          <a:stretch/>
        </p:blipFill>
        <p:spPr>
          <a:xfrm>
            <a:off x="6719603" y="2204597"/>
            <a:ext cx="4601188" cy="2524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972A47-D5C1-D35E-027E-6F83A90FDDEF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35" b="11534"/>
          <a:stretch/>
        </p:blipFill>
        <p:spPr>
          <a:xfrm>
            <a:off x="1071234" y="2090294"/>
            <a:ext cx="3153337" cy="25248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812638-C491-6427-3A41-590CA35F4DBB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662153"/>
            <a:ext cx="5846618" cy="32272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7B4551B-372E-95A5-957B-116A928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18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795A33-CD40-4411-81B2-AAFBDD491CA0}"/>
              </a:ext>
            </a:extLst>
          </p:cNvPr>
          <p:cNvSpPr/>
          <p:nvPr/>
        </p:nvSpPr>
        <p:spPr>
          <a:xfrm>
            <a:off x="83312" y="-27034"/>
            <a:ext cx="121086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Discussions</a:t>
            </a:r>
          </a:p>
          <a:p>
            <a:r>
              <a:rPr lang="en-US" dirty="0" err="1">
                <a:latin typeface="Century Gothic" panose="020B0502020202020204" pitchFamily="34" charset="0"/>
                <a:cs typeface="Arial" panose="020B0604020202020204" pitchFamily="34" charset="0"/>
              </a:rPr>
              <a:t>DynamicPATCH</a:t>
            </a:r>
            <a:r>
              <a:rPr lang="en-US" dirty="0">
                <a:latin typeface="Century Gothic" panose="020B0502020202020204" pitchFamily="34" charset="0"/>
                <a:cs typeface="Arial" panose="020B0604020202020204" pitchFamily="34" charset="0"/>
              </a:rPr>
              <a:t> captures gross changes that traditional methods miss by measuring only net change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582CED-E777-4B68-A774-8B5F3D1A8C55}"/>
              </a:ext>
            </a:extLst>
          </p:cNvPr>
          <p:cNvSpPr/>
          <p:nvPr/>
        </p:nvSpPr>
        <p:spPr>
          <a:xfrm>
            <a:off x="55690" y="73024"/>
            <a:ext cx="45719" cy="7885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8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660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7B4551B-372E-95A5-957B-116A928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19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13ED6-A998-4AD9-A959-C07AE0B53B6F}"/>
              </a:ext>
            </a:extLst>
          </p:cNvPr>
          <p:cNvSpPr txBox="1"/>
          <p:nvPr/>
        </p:nvSpPr>
        <p:spPr>
          <a:xfrm>
            <a:off x="82135" y="1206750"/>
            <a:ext cx="118229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New approach in dynamic pattern analysis: Urban expansion pattern, disturbance pattern, forest fragmentation,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New approach in connecting pattern and processes: drivers and impacts of disturbance patterns, change in species richness &amp; movement patterns,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Habitat fragmentation analysis and connectivity research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Map comparison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Land change modelling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404E5-F747-8CFF-F296-17FB68FF0468}"/>
              </a:ext>
            </a:extLst>
          </p:cNvPr>
          <p:cNvSpPr txBox="1"/>
          <p:nvPr/>
        </p:nvSpPr>
        <p:spPr>
          <a:xfrm>
            <a:off x="414337" y="4476637"/>
            <a:ext cx="11158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You can use </a:t>
            </a:r>
            <a:r>
              <a:rPr lang="en-US" sz="2400" b="1" dirty="0" err="1">
                <a:solidFill>
                  <a:srgbClr val="C00000"/>
                </a:solidFill>
              </a:rPr>
              <a:t>DynamicPATCH</a:t>
            </a:r>
            <a:r>
              <a:rPr lang="en-US" sz="2400" b="1" dirty="0">
                <a:solidFill>
                  <a:srgbClr val="C00000"/>
                </a:solidFill>
              </a:rPr>
              <a:t> with any categorical maps with more than one time point.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06476-AFAA-4CEE-8B33-579B65B6E923}"/>
              </a:ext>
            </a:extLst>
          </p:cNvPr>
          <p:cNvSpPr/>
          <p:nvPr/>
        </p:nvSpPr>
        <p:spPr>
          <a:xfrm>
            <a:off x="83312" y="-27034"/>
            <a:ext cx="121086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Discussions</a:t>
            </a:r>
          </a:p>
          <a:p>
            <a:r>
              <a:rPr lang="en-US" sz="2400" dirty="0">
                <a:latin typeface="Century Gothic" panose="020B0502020202020204" pitchFamily="34" charset="0"/>
                <a:cs typeface="Arial" panose="020B0604020202020204" pitchFamily="34" charset="0"/>
              </a:rPr>
              <a:t>Potential applications of </a:t>
            </a:r>
            <a:r>
              <a:rPr lang="en-US" sz="2400" dirty="0" err="1">
                <a:latin typeface="Century Gothic" panose="020B0502020202020204" pitchFamily="34" charset="0"/>
                <a:cs typeface="Arial" panose="020B0604020202020204" pitchFamily="34" charset="0"/>
              </a:rPr>
              <a:t>DynamicPATCH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BACCB1-C8B2-436E-99FD-B1869EA3D4A8}"/>
              </a:ext>
            </a:extLst>
          </p:cNvPr>
          <p:cNvSpPr/>
          <p:nvPr/>
        </p:nvSpPr>
        <p:spPr>
          <a:xfrm>
            <a:off x="55690" y="73024"/>
            <a:ext cx="45719" cy="7885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8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61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7B4551B-372E-95A5-957B-116A928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20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13ED6-A998-4AD9-A959-C07AE0B53B6F}"/>
              </a:ext>
            </a:extLst>
          </p:cNvPr>
          <p:cNvSpPr txBox="1"/>
          <p:nvPr/>
        </p:nvSpPr>
        <p:spPr>
          <a:xfrm>
            <a:off x="41656" y="1082925"/>
            <a:ext cx="118229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Border effect: </a:t>
            </a:r>
            <a:r>
              <a:rPr lang="en-US" sz="2800" dirty="0"/>
              <a:t>patches along the border of the spatial extent can be miss-characterized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Sensitivity to connectivity: </a:t>
            </a:r>
            <a:r>
              <a:rPr lang="en-US" sz="2800" dirty="0"/>
              <a:t>using the 8-connectivity case or the 4-connectivity case will have different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Impact of noise: </a:t>
            </a:r>
            <a:r>
              <a:rPr lang="en-US" sz="2800" dirty="0"/>
              <a:t>Isolated pixels can impact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Computationally expensive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5A9F0-2965-4346-A22F-5CA61460817C}"/>
              </a:ext>
            </a:extLst>
          </p:cNvPr>
          <p:cNvSpPr/>
          <p:nvPr/>
        </p:nvSpPr>
        <p:spPr>
          <a:xfrm>
            <a:off x="83312" y="-27034"/>
            <a:ext cx="121086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Discussions</a:t>
            </a:r>
          </a:p>
          <a:p>
            <a:r>
              <a:rPr lang="en-US" sz="2400" dirty="0">
                <a:latin typeface="Century Gothic" panose="020B0502020202020204" pitchFamily="34" charset="0"/>
                <a:cs typeface="Arial" panose="020B0604020202020204" pitchFamily="34" charset="0"/>
              </a:rPr>
              <a:t>Challenges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D7801F-69D2-4A5D-9B4D-89976A84FA87}"/>
              </a:ext>
            </a:extLst>
          </p:cNvPr>
          <p:cNvSpPr/>
          <p:nvPr/>
        </p:nvSpPr>
        <p:spPr>
          <a:xfrm>
            <a:off x="55690" y="73024"/>
            <a:ext cx="45719" cy="7885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8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77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C16D91-BBE3-D760-7D83-693F07E52A1C}"/>
              </a:ext>
            </a:extLst>
          </p:cNvPr>
          <p:cNvSpPr/>
          <p:nvPr/>
        </p:nvSpPr>
        <p:spPr>
          <a:xfrm>
            <a:off x="83312" y="536087"/>
            <a:ext cx="121086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DynamicPATCH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can be applied using our open-source Python package available at </a:t>
            </a:r>
            <a:r>
              <a:rPr lang="en-US" sz="2000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https://github.com/zay1996/DynamicPATCH.git</a:t>
            </a:r>
            <a:endParaRPr lang="en-US" sz="2000" u="sng" dirty="0">
              <a:solidFill>
                <a:schemeClr val="accent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995BA9-918B-38E1-0B63-32421827A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1344514"/>
            <a:ext cx="5980049" cy="491490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4A18D3-DD81-3E16-BD82-F5D9196F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21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A9F74A-9179-4501-8E48-90C26E36B689}"/>
              </a:ext>
            </a:extLst>
          </p:cNvPr>
          <p:cNvGrpSpPr/>
          <p:nvPr/>
        </p:nvGrpSpPr>
        <p:grpSpPr>
          <a:xfrm>
            <a:off x="55690" y="-27034"/>
            <a:ext cx="12355385" cy="584775"/>
            <a:chOff x="55690" y="-27034"/>
            <a:chExt cx="12355385" cy="584775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392B1361-4641-4256-B040-9FFB510C7204}"/>
                </a:ext>
              </a:extLst>
            </p:cNvPr>
            <p:cNvSpPr txBox="1">
              <a:spLocks/>
            </p:cNvSpPr>
            <p:nvPr/>
          </p:nvSpPr>
          <p:spPr>
            <a:xfrm>
              <a:off x="83312" y="73873"/>
              <a:ext cx="12327763" cy="4103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C10425-993F-4408-ACFF-4BA56EA24294}"/>
                </a:ext>
              </a:extLst>
            </p:cNvPr>
            <p:cNvSpPr/>
            <p:nvPr/>
          </p:nvSpPr>
          <p:spPr>
            <a:xfrm>
              <a:off x="83312" y="-27034"/>
              <a:ext cx="121086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Where &amp; how to use </a:t>
              </a:r>
              <a:r>
                <a:rPr lang="en-US" sz="3200" b="1" dirty="0" err="1">
                  <a:solidFill>
                    <a:srgbClr val="C00000"/>
                  </a:solidFill>
                  <a:latin typeface="Century Gothic" panose="020B0502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DynamicPATCH</a:t>
              </a:r>
              <a:endPara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AA4ED5-9426-4278-B1B7-3ED4D9621A5B}"/>
                </a:ext>
              </a:extLst>
            </p:cNvPr>
            <p:cNvSpPr/>
            <p:nvPr/>
          </p:nvSpPr>
          <p:spPr>
            <a:xfrm>
              <a:off x="55690" y="73024"/>
              <a:ext cx="45719" cy="3841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81F1F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40B2D88-3785-49E4-A1EC-1DA7D5E64FBD}"/>
              </a:ext>
            </a:extLst>
          </p:cNvPr>
          <p:cNvSpPr txBox="1"/>
          <p:nvPr/>
        </p:nvSpPr>
        <p:spPr>
          <a:xfrm>
            <a:off x="25130" y="6356350"/>
            <a:ext cx="12285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Zhang, Aiyin, Robert Gilmore Pontius Jr, Thomas Mumuni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Bilintoh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Florencia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Sangermano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and John Rogan. 2025. “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DynamicPATCH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: Method and Software for Spatially Explicit Dynamic Patch Transition Characterization.” 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Landscape Ecology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 40 (7): 132.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https://doi.org/10.1007/s10980-025-02120-1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0198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7B4551B-372E-95A5-957B-116A928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22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13ED6-A998-4AD9-A959-C07AE0B53B6F}"/>
              </a:ext>
            </a:extLst>
          </p:cNvPr>
          <p:cNvSpPr txBox="1"/>
          <p:nvPr/>
        </p:nvSpPr>
        <p:spPr>
          <a:xfrm>
            <a:off x="-8878" y="926497"/>
            <a:ext cx="1182293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by step guide on preparing Python environment for installing </a:t>
            </a:r>
            <a:r>
              <a:rPr lang="en-US" sz="2400" b="1" dirty="0" err="1"/>
              <a:t>DynamicPATCH</a:t>
            </a:r>
            <a:r>
              <a:rPr lang="en-US" sz="2400" b="1" dirty="0"/>
              <a:t>:</a:t>
            </a:r>
          </a:p>
          <a:p>
            <a:pPr marL="457200" indent="-457200">
              <a:buAutoNum type="arabicPeriod"/>
            </a:pPr>
            <a:r>
              <a:rPr lang="en-US" sz="2000" b="1" dirty="0"/>
              <a:t>Install </a:t>
            </a:r>
            <a:r>
              <a:rPr lang="en-US" sz="2000" b="1" dirty="0">
                <a:hlinkClick r:id="rId3"/>
              </a:rPr>
              <a:t>Anaconda</a:t>
            </a:r>
            <a:r>
              <a:rPr lang="en-US" sz="2000" b="1" dirty="0"/>
              <a:t> or </a:t>
            </a:r>
            <a:r>
              <a:rPr lang="en-US" sz="2000" b="1" dirty="0" err="1">
                <a:hlinkClick r:id="rId4"/>
              </a:rPr>
              <a:t>Miniconda</a:t>
            </a:r>
            <a:r>
              <a:rPr lang="en-US" sz="2000" b="1" dirty="0">
                <a:hlinkClick r:id="rId4"/>
              </a:rPr>
              <a:t> </a:t>
            </a:r>
            <a:endParaRPr lang="en-US" sz="20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hlinkClick r:id="rId5"/>
              </a:rPr>
              <a:t>Which one should I choose?</a:t>
            </a:r>
            <a:endParaRPr lang="en-US" sz="20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Install </a:t>
            </a:r>
            <a:r>
              <a:rPr lang="en-US" sz="2000" b="1" dirty="0">
                <a:hlinkClick r:id="rId6"/>
              </a:rPr>
              <a:t>Git</a:t>
            </a:r>
            <a:r>
              <a:rPr lang="en-US" sz="2000" b="1" dirty="0"/>
              <a:t> (or run this line in your </a:t>
            </a:r>
            <a:r>
              <a:rPr lang="en-US" sz="2000" b="1" dirty="0" err="1"/>
              <a:t>conda</a:t>
            </a:r>
            <a:r>
              <a:rPr lang="en-US" sz="2000" b="1" dirty="0"/>
              <a:t> prompt terminal: </a:t>
            </a: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install -c anaconda git</a:t>
            </a:r>
            <a:r>
              <a:rPr lang="en-US" sz="2000" b="1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Open Anaconda Prompt or terminal 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Create a virtual environment using the following command </a:t>
            </a:r>
          </a:p>
          <a:p>
            <a:pPr lvl="1"/>
            <a:endParaRPr lang="en-US" sz="1600" b="1" dirty="0"/>
          </a:p>
          <a:p>
            <a:pPr lvl="1"/>
            <a:endParaRPr lang="en-US" sz="1600" b="1" dirty="0"/>
          </a:p>
          <a:p>
            <a:pPr marL="457200" indent="-457200">
              <a:buAutoNum type="arabicPeriod"/>
            </a:pPr>
            <a:r>
              <a:rPr lang="en-US" sz="2000" b="1" dirty="0"/>
              <a:t>Activate the virtual environment</a:t>
            </a:r>
          </a:p>
          <a:p>
            <a:pPr marL="457200" indent="-457200">
              <a:buAutoNum type="arabicPeriod"/>
            </a:pPr>
            <a:endParaRPr lang="en-US" sz="2000" b="1" dirty="0"/>
          </a:p>
          <a:p>
            <a:endParaRPr lang="en-US" sz="1600" b="1" dirty="0"/>
          </a:p>
          <a:p>
            <a:pPr marL="457200" indent="-457200">
              <a:buAutoNum type="arabicPeriod"/>
            </a:pPr>
            <a:endParaRPr lang="en-US" sz="1600" b="1" dirty="0"/>
          </a:p>
          <a:p>
            <a:r>
              <a:rPr lang="en-US" sz="2000" b="1" dirty="0"/>
              <a:t>5.      Install </a:t>
            </a:r>
            <a:r>
              <a:rPr lang="en-US" sz="2000" b="1" dirty="0" err="1"/>
              <a:t>DynamicPATCH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085EA-172A-430F-9307-5772361C95CE}"/>
              </a:ext>
            </a:extLst>
          </p:cNvPr>
          <p:cNvSpPr txBox="1"/>
          <p:nvPr/>
        </p:nvSpPr>
        <p:spPr>
          <a:xfrm>
            <a:off x="425104" y="3771163"/>
            <a:ext cx="1134179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  <a:cs typeface="Lucida Sans Unicode" panose="020B0602030504020204" pitchFamily="34" charset="0"/>
              </a:rPr>
              <a:t>conda</a:t>
            </a:r>
            <a:r>
              <a:rPr lang="en-US" sz="1200" dirty="0">
                <a:latin typeface="Consolas" panose="020B0609020204030204" pitchFamily="49" charset="0"/>
                <a:cs typeface="Lucida Sans Unicode" panose="020B0602030504020204" pitchFamily="34" charset="0"/>
              </a:rPr>
              <a:t> create --name </a:t>
            </a:r>
            <a:r>
              <a:rPr lang="en-US" sz="1200" dirty="0" err="1">
                <a:latin typeface="Consolas" panose="020B0609020204030204" pitchFamily="49" charset="0"/>
                <a:cs typeface="Lucida Sans Unicode" panose="020B0602030504020204" pitchFamily="34" charset="0"/>
              </a:rPr>
              <a:t>myenv</a:t>
            </a:r>
            <a:r>
              <a:rPr lang="en-US" sz="1200" dirty="0">
                <a:latin typeface="Consolas" panose="020B0609020204030204" pitchFamily="49" charset="0"/>
                <a:cs typeface="Lucida Sans Unicode" panose="020B0602030504020204" pitchFamily="34" charset="0"/>
              </a:rPr>
              <a:t> python=3.10 # replace </a:t>
            </a:r>
            <a:r>
              <a:rPr lang="en-US" sz="1200" dirty="0" err="1">
                <a:latin typeface="Consolas" panose="020B0609020204030204" pitchFamily="49" charset="0"/>
                <a:cs typeface="Lucida Sans Unicode" panose="020B0602030504020204" pitchFamily="34" charset="0"/>
              </a:rPr>
              <a:t>myenv</a:t>
            </a:r>
            <a:r>
              <a:rPr lang="en-US" sz="1200" dirty="0">
                <a:latin typeface="Consolas" panose="020B0609020204030204" pitchFamily="49" charset="0"/>
                <a:cs typeface="Lucida Sans Unicode" panose="020B0602030504020204" pitchFamily="34" charset="0"/>
              </a:rPr>
              <a:t> with an environment name you want, specify Python version as 3.10, another version may lead to installation failure.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A287F-B4C9-47DF-B35F-64C7A1AEA39B}"/>
              </a:ext>
            </a:extLst>
          </p:cNvPr>
          <p:cNvSpPr txBox="1"/>
          <p:nvPr/>
        </p:nvSpPr>
        <p:spPr>
          <a:xfrm>
            <a:off x="472270" y="4587527"/>
            <a:ext cx="1134179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conda</a:t>
            </a:r>
            <a:r>
              <a:rPr lang="en-US" sz="1200" dirty="0">
                <a:latin typeface="Consolas" panose="020B0609020204030204" pitchFamily="49" charset="0"/>
              </a:rPr>
              <a:t> activate </a:t>
            </a:r>
            <a:r>
              <a:rPr lang="en-US" sz="1200" dirty="0" err="1">
                <a:latin typeface="Consolas" panose="020B0609020204030204" pitchFamily="49" charset="0"/>
              </a:rPr>
              <a:t>myenv</a:t>
            </a:r>
            <a:r>
              <a:rPr lang="en-US" sz="1200" dirty="0">
                <a:latin typeface="Consolas" panose="020B0609020204030204" pitchFamily="49" charset="0"/>
              </a:rPr>
              <a:t> # windows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source activate </a:t>
            </a:r>
            <a:r>
              <a:rPr lang="en-US" sz="1200" dirty="0" err="1">
                <a:latin typeface="Consolas" panose="020B0609020204030204" pitchFamily="49" charset="0"/>
              </a:rPr>
              <a:t>myenv</a:t>
            </a:r>
            <a:r>
              <a:rPr lang="en-US" sz="1200" dirty="0">
                <a:latin typeface="Consolas" panose="020B0609020204030204" pitchFamily="49" charset="0"/>
              </a:rPr>
              <a:t> # macOS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24BEA6-65FF-47D3-B09E-D3E9C6ED1175}"/>
              </a:ext>
            </a:extLst>
          </p:cNvPr>
          <p:cNvSpPr txBox="1"/>
          <p:nvPr/>
        </p:nvSpPr>
        <p:spPr>
          <a:xfrm>
            <a:off x="472270" y="5758589"/>
            <a:ext cx="1134179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pip install </a:t>
            </a:r>
            <a:r>
              <a:rPr lang="en-US" sz="1200" dirty="0" err="1">
                <a:latin typeface="Consolas" panose="020B0609020204030204" pitchFamily="49" charset="0"/>
              </a:rPr>
              <a:t>git+https</a:t>
            </a:r>
            <a:r>
              <a:rPr lang="en-US" sz="1200" dirty="0">
                <a:latin typeface="Consolas" panose="020B0609020204030204" pitchFamily="49" charset="0"/>
              </a:rPr>
              <a:t>://github.com/zay1996/</a:t>
            </a:r>
            <a:r>
              <a:rPr lang="en-US" sz="1200" dirty="0" err="1">
                <a:latin typeface="Consolas" panose="020B0609020204030204" pitchFamily="49" charset="0"/>
              </a:rPr>
              <a:t>DynamicPATCH.git</a:t>
            </a:r>
            <a:r>
              <a:rPr lang="en-US" sz="1200" dirty="0">
                <a:latin typeface="Consolas" panose="020B0609020204030204" pitchFamily="49" charset="0"/>
              </a:rPr>
              <a:t> # public version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pip install </a:t>
            </a:r>
            <a:r>
              <a:rPr lang="en-US" sz="1200" dirty="0" err="1">
                <a:latin typeface="Consolas" panose="020B0609020204030204" pitchFamily="49" charset="0"/>
              </a:rPr>
              <a:t>git+https</a:t>
            </a:r>
            <a:r>
              <a:rPr lang="en-US" sz="1200" dirty="0">
                <a:latin typeface="Consolas" panose="020B0609020204030204" pitchFamily="49" charset="0"/>
              </a:rPr>
              <a:t>://github.com/zay1996/</a:t>
            </a:r>
            <a:r>
              <a:rPr lang="en-US" sz="1200" dirty="0" err="1">
                <a:latin typeface="Consolas" panose="020B0609020204030204" pitchFamily="49" charset="0"/>
              </a:rPr>
              <a:t>DynamicPATCH.git@developer-branch</a:t>
            </a:r>
            <a:r>
              <a:rPr lang="en-US" sz="1200" dirty="0">
                <a:latin typeface="Consolas" panose="020B0609020204030204" pitchFamily="49" charset="0"/>
              </a:rPr>
              <a:t> # developer’s version (recommend)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F7AE1-C9DD-464A-B9B5-63198402F7C9}"/>
              </a:ext>
            </a:extLst>
          </p:cNvPr>
          <p:cNvSpPr/>
          <p:nvPr/>
        </p:nvSpPr>
        <p:spPr>
          <a:xfrm>
            <a:off x="83312" y="-27034"/>
            <a:ext cx="12108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&amp; how to use </a:t>
            </a:r>
            <a:r>
              <a:rPr lang="en-US" sz="3200" b="1" dirty="0" err="1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DynamicPATCH</a:t>
            </a:r>
            <a:endParaRPr lang="en-US" sz="3200" b="1" dirty="0">
              <a:solidFill>
                <a:srgbClr val="C00000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671FF5-F94D-4DA4-BCA2-157BC6B7F001}"/>
              </a:ext>
            </a:extLst>
          </p:cNvPr>
          <p:cNvSpPr txBox="1"/>
          <p:nvPr/>
        </p:nvSpPr>
        <p:spPr>
          <a:xfrm>
            <a:off x="25130" y="6356350"/>
            <a:ext cx="12285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Zhang, Aiyin, Robert Gilmore Pontius Jr, Thomas Mumuni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Bilintoh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Florencia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Sangermano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and John Rogan. 2025. “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DynamicPATCH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: Method and Software for Spatially Explicit Dynamic Patch Transition Characterization.” 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Landscape Ecology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 40 (7): 132.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https://doi.org/10.1007/s10980-025-02120-1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F9BC65-914F-4802-8F0F-C31CB413120A}"/>
              </a:ext>
            </a:extLst>
          </p:cNvPr>
          <p:cNvSpPr/>
          <p:nvPr/>
        </p:nvSpPr>
        <p:spPr>
          <a:xfrm>
            <a:off x="55690" y="73024"/>
            <a:ext cx="45719" cy="3841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8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588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CE52E-8AF2-7246-0520-252A6F42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A054472-C0D8-2D57-53C5-697D01AE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23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840C55-1B0C-7820-D71C-B6FBCD8AA6DC}"/>
              </a:ext>
            </a:extLst>
          </p:cNvPr>
          <p:cNvSpPr txBox="1"/>
          <p:nvPr/>
        </p:nvSpPr>
        <p:spPr>
          <a:xfrm>
            <a:off x="-8876" y="909229"/>
            <a:ext cx="118229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You should use a </a:t>
            </a:r>
            <a:r>
              <a:rPr lang="en-US" sz="2400" b="1" dirty="0"/>
              <a:t>Python IDE </a:t>
            </a:r>
            <a:r>
              <a:rPr lang="en-US" sz="2400" dirty="0"/>
              <a:t>to run </a:t>
            </a:r>
            <a:r>
              <a:rPr lang="en-US" sz="2400" dirty="0" err="1"/>
              <a:t>DynamicPATCH</a:t>
            </a:r>
            <a:r>
              <a:rPr lang="en-US" sz="2400" dirty="0"/>
              <a:t> unless you want to do everything in a terminal.</a:t>
            </a:r>
          </a:p>
          <a:p>
            <a:endParaRPr lang="en-US" sz="2400" dirty="0"/>
          </a:p>
          <a:p>
            <a:r>
              <a:rPr lang="en-US" sz="2400" dirty="0"/>
              <a:t>I recommend using either of these two: </a:t>
            </a:r>
            <a:r>
              <a:rPr lang="en-US" sz="2400" b="1" dirty="0" err="1"/>
              <a:t>JupyterLab</a:t>
            </a:r>
            <a:r>
              <a:rPr lang="en-US" sz="2400" b="1" dirty="0"/>
              <a:t>                    or VS Code</a:t>
            </a:r>
          </a:p>
          <a:p>
            <a:endParaRPr lang="en-US" sz="2400" b="1" dirty="0"/>
          </a:p>
          <a:p>
            <a:r>
              <a:rPr lang="en-US" sz="2400" b="1" dirty="0"/>
              <a:t>Installing </a:t>
            </a:r>
            <a:r>
              <a:rPr lang="en-US" sz="2400" b="1" dirty="0" err="1"/>
              <a:t>JupyterLab</a:t>
            </a:r>
            <a:r>
              <a:rPr lang="en-US" sz="2400" b="1" dirty="0"/>
              <a:t>: </a:t>
            </a:r>
            <a:r>
              <a:rPr lang="en-US" sz="2400" dirty="0"/>
              <a:t>In your Anaconda Prompt terminal, run </a:t>
            </a:r>
            <a:r>
              <a:rPr lang="en-US" sz="2000" b="1" dirty="0" err="1">
                <a:latin typeface="Consolas" panose="020B0609020204030204" pitchFamily="49" charset="0"/>
              </a:rPr>
              <a:t>conda</a:t>
            </a:r>
            <a:r>
              <a:rPr lang="en-US" sz="2000" b="1" dirty="0">
                <a:latin typeface="Consolas" panose="020B0609020204030204" pitchFamily="49" charset="0"/>
              </a:rPr>
              <a:t> install </a:t>
            </a:r>
            <a:r>
              <a:rPr lang="en-US" sz="2000" b="1" dirty="0" err="1">
                <a:latin typeface="Consolas" panose="020B0609020204030204" pitchFamily="49" charset="0"/>
              </a:rPr>
              <a:t>jupyterlab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400" dirty="0"/>
              <a:t>under your environment, then run </a:t>
            </a:r>
            <a:r>
              <a:rPr lang="en-US" sz="2000" b="1" dirty="0" err="1">
                <a:latin typeface="Consolas" panose="020B0609020204030204" pitchFamily="49" charset="0"/>
              </a:rPr>
              <a:t>jupyter</a:t>
            </a:r>
            <a:r>
              <a:rPr lang="en-US" sz="2000" b="1" dirty="0">
                <a:latin typeface="Consolas" panose="020B0609020204030204" pitchFamily="49" charset="0"/>
              </a:rPr>
              <a:t> lab </a:t>
            </a:r>
            <a:r>
              <a:rPr lang="en-US" sz="2400" dirty="0"/>
              <a:t>after installation </a:t>
            </a:r>
          </a:p>
          <a:p>
            <a:endParaRPr lang="en-US" sz="2400" dirty="0"/>
          </a:p>
          <a:p>
            <a:r>
              <a:rPr lang="en-US" sz="2400" b="1" dirty="0"/>
              <a:t>Installing VS Code: </a:t>
            </a:r>
            <a:r>
              <a:rPr lang="en-US" sz="2400" dirty="0"/>
              <a:t>https://code.visualstudio.com/download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75969E-4894-737E-2BC1-CD1C69FF8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302" y="1418227"/>
            <a:ext cx="1238423" cy="990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4DB5CC-6CEC-1194-FFD7-87DAA261D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630" y="1470621"/>
            <a:ext cx="914528" cy="8859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01640-BD57-44D0-A63F-4A8BBACCC1C1}"/>
              </a:ext>
            </a:extLst>
          </p:cNvPr>
          <p:cNvSpPr/>
          <p:nvPr/>
        </p:nvSpPr>
        <p:spPr>
          <a:xfrm>
            <a:off x="83312" y="-27034"/>
            <a:ext cx="12108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&amp; how to use </a:t>
            </a:r>
            <a:r>
              <a:rPr lang="en-US" sz="3200" b="1" dirty="0" err="1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DynamicPATCH</a:t>
            </a:r>
            <a:endParaRPr lang="en-US" sz="3200" b="1" dirty="0">
              <a:solidFill>
                <a:srgbClr val="C00000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B472E-8181-4FB8-96A0-D812E5760187}"/>
              </a:ext>
            </a:extLst>
          </p:cNvPr>
          <p:cNvSpPr txBox="1"/>
          <p:nvPr/>
        </p:nvSpPr>
        <p:spPr>
          <a:xfrm>
            <a:off x="25130" y="6356350"/>
            <a:ext cx="12285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Zhang, Aiyin, Robert Gilmore Pontius Jr, Thomas Mumuni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Bilintoh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Florencia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Sangermano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and John Rogan. 2025. “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DynamicPATCH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: Method and Software for Spatially Explicit Dynamic Patch Transition Characterization.” 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Landscape Ecology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 40 (7): 132.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https://doi.org/10.1007/s10980-025-02120-1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953D5A-6749-47E5-8338-98E851D534B5}"/>
              </a:ext>
            </a:extLst>
          </p:cNvPr>
          <p:cNvSpPr/>
          <p:nvPr/>
        </p:nvSpPr>
        <p:spPr>
          <a:xfrm>
            <a:off x="55690" y="73024"/>
            <a:ext cx="45719" cy="3841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8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224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7B4551B-372E-95A5-957B-116A928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1A0B-866F-4808-971F-0FC85A213661}" type="slidenum">
              <a:rPr lang="en-US" smtClean="0"/>
              <a:t>24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EBEB8-30DA-400C-A553-94B74DFCE26C}"/>
              </a:ext>
            </a:extLst>
          </p:cNvPr>
          <p:cNvSpPr/>
          <p:nvPr/>
        </p:nvSpPr>
        <p:spPr>
          <a:xfrm>
            <a:off x="160919" y="1530420"/>
            <a:ext cx="1103322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ndara" panose="020E0502030303020204" pitchFamily="34" charset="0"/>
              </a:rPr>
              <a:t>import </a:t>
            </a:r>
            <a:r>
              <a:rPr lang="en-US" sz="1400" dirty="0" err="1">
                <a:latin typeface="Candara" panose="020E0502030303020204" pitchFamily="34" charset="0"/>
              </a:rPr>
              <a:t>os</a:t>
            </a:r>
            <a:endParaRPr lang="en-US" sz="1400" dirty="0">
              <a:latin typeface="Candara" panose="020E0502030303020204" pitchFamily="34" charset="0"/>
            </a:endParaRPr>
          </a:p>
          <a:p>
            <a:r>
              <a:rPr lang="en-US" sz="1400" dirty="0">
                <a:latin typeface="Candara" panose="020E0502030303020204" pitchFamily="34" charset="0"/>
              </a:rPr>
              <a:t>import </a:t>
            </a:r>
            <a:r>
              <a:rPr lang="en-US" sz="1400" dirty="0" err="1">
                <a:latin typeface="Candara" panose="020E0502030303020204" pitchFamily="34" charset="0"/>
              </a:rPr>
              <a:t>dynamicpatch</a:t>
            </a:r>
            <a:r>
              <a:rPr lang="en-US" sz="1400" dirty="0">
                <a:latin typeface="Candara" panose="020E0502030303020204" pitchFamily="34" charset="0"/>
              </a:rPr>
              <a:t> </a:t>
            </a:r>
          </a:p>
          <a:p>
            <a:r>
              <a:rPr lang="en-US" sz="1400" dirty="0">
                <a:latin typeface="Candara" panose="020E0502030303020204" pitchFamily="34" charset="0"/>
              </a:rPr>
              <a:t>from </a:t>
            </a:r>
            <a:r>
              <a:rPr lang="en-US" sz="1400" dirty="0" err="1">
                <a:latin typeface="Candara" panose="020E0502030303020204" pitchFamily="34" charset="0"/>
              </a:rPr>
              <a:t>dynamicpatch</a:t>
            </a:r>
            <a:r>
              <a:rPr lang="en-US" sz="1400" dirty="0">
                <a:latin typeface="Candara" panose="020E0502030303020204" pitchFamily="34" charset="0"/>
              </a:rPr>
              <a:t> import main</a:t>
            </a:r>
          </a:p>
          <a:p>
            <a:r>
              <a:rPr lang="en-US" sz="1400" dirty="0" err="1">
                <a:latin typeface="Candara" panose="020E0502030303020204" pitchFamily="34" charset="0"/>
              </a:rPr>
              <a:t>package_dir</a:t>
            </a:r>
            <a:r>
              <a:rPr lang="en-US" sz="1400" dirty="0">
                <a:latin typeface="Candara" panose="020E0502030303020204" pitchFamily="34" charset="0"/>
              </a:rPr>
              <a:t> = </a:t>
            </a:r>
            <a:r>
              <a:rPr lang="en-US" sz="1400" dirty="0" err="1">
                <a:latin typeface="Candara" panose="020E0502030303020204" pitchFamily="34" charset="0"/>
              </a:rPr>
              <a:t>os.path.dirname</a:t>
            </a:r>
            <a:r>
              <a:rPr lang="en-US" sz="1400" dirty="0">
                <a:latin typeface="Candara" panose="020E0502030303020204" pitchFamily="34" charset="0"/>
              </a:rPr>
              <a:t>(</a:t>
            </a:r>
            <a:r>
              <a:rPr lang="en-US" sz="1400" dirty="0" err="1">
                <a:latin typeface="Candara" panose="020E0502030303020204" pitchFamily="34" charset="0"/>
              </a:rPr>
              <a:t>os.path.abspath</a:t>
            </a:r>
            <a:r>
              <a:rPr lang="en-US" sz="1400" dirty="0">
                <a:latin typeface="Candara" panose="020E0502030303020204" pitchFamily="34" charset="0"/>
              </a:rPr>
              <a:t>(</a:t>
            </a:r>
            <a:r>
              <a:rPr lang="en-US" sz="1400" dirty="0" err="1">
                <a:latin typeface="Candara" panose="020E0502030303020204" pitchFamily="34" charset="0"/>
              </a:rPr>
              <a:t>dynamicpatch</a:t>
            </a:r>
            <a:r>
              <a:rPr lang="en-US" sz="1400" dirty="0">
                <a:latin typeface="Candara" panose="020E0502030303020204" pitchFamily="34" charset="0"/>
              </a:rPr>
              <a:t>.__file__)) # find directory of the package    </a:t>
            </a:r>
          </a:p>
          <a:p>
            <a:r>
              <a:rPr lang="en-US" sz="1400" dirty="0">
                <a:latin typeface="Candara" panose="020E0502030303020204" pitchFamily="34" charset="0"/>
              </a:rPr>
              <a:t>## specify the parameters </a:t>
            </a:r>
          </a:p>
          <a:p>
            <a:r>
              <a:rPr lang="en-US" sz="1400" dirty="0" err="1">
                <a:latin typeface="Candara" panose="020E0502030303020204" pitchFamily="34" charset="0"/>
              </a:rPr>
              <a:t>main.run_dynamicpatch</a:t>
            </a:r>
            <a:r>
              <a:rPr lang="en-US" sz="1400" dirty="0">
                <a:latin typeface="Candara" panose="020E0502030303020204" pitchFamily="34" charset="0"/>
              </a:rPr>
              <a:t>(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workpath</a:t>
            </a:r>
            <a:r>
              <a:rPr lang="en-US" sz="1400" dirty="0">
                <a:latin typeface="Candara" panose="020E0502030303020204" pitchFamily="34" charset="0"/>
              </a:rPr>
              <a:t> = </a:t>
            </a:r>
            <a:r>
              <a:rPr lang="en-US" sz="1400" dirty="0" err="1">
                <a:latin typeface="Candara" panose="020E0502030303020204" pitchFamily="34" charset="0"/>
              </a:rPr>
              <a:t>package_dir</a:t>
            </a:r>
            <a:r>
              <a:rPr lang="en-US" sz="1400" dirty="0">
                <a:latin typeface="Candara" panose="020E0502030303020204" pitchFamily="34" charset="0"/>
              </a:rPr>
              <a:t> + '/static/example.xlsx',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year = [0,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        1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], 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in_nodata</a:t>
            </a:r>
            <a:r>
              <a:rPr lang="en-US" sz="1400" dirty="0">
                <a:latin typeface="Candara" panose="020E0502030303020204" pitchFamily="34" charset="0"/>
              </a:rPr>
              <a:t> = -1, # optional, default = 0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connectivity = 8, # optional, default = 8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targ_pre</a:t>
            </a:r>
            <a:r>
              <a:rPr lang="en-US" sz="1400" dirty="0">
                <a:latin typeface="Candara" panose="020E0502030303020204" pitchFamily="34" charset="0"/>
              </a:rPr>
              <a:t> = 1, # optional, default = 1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study_area</a:t>
            </a:r>
            <a:r>
              <a:rPr lang="en-US" sz="1400" dirty="0">
                <a:latin typeface="Candara" panose="020E0502030303020204" pitchFamily="34" charset="0"/>
              </a:rPr>
              <a:t> = None, # optional, default = None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map_show</a:t>
            </a:r>
            <a:r>
              <a:rPr lang="en-US" sz="1400" dirty="0">
                <a:latin typeface="Candara" panose="020E0502030303020204" pitchFamily="34" charset="0"/>
              </a:rPr>
              <a:t> = True, # optional, default = True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chart_show</a:t>
            </a:r>
            <a:r>
              <a:rPr lang="en-US" sz="1400" dirty="0">
                <a:latin typeface="Candara" panose="020E0502030303020204" pitchFamily="34" charset="0"/>
              </a:rPr>
              <a:t> = True, # optional, default = True 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unit = None, # let program decide automatically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log_scale</a:t>
            </a:r>
            <a:r>
              <a:rPr lang="en-US" sz="1400" dirty="0">
                <a:latin typeface="Candara" panose="020E0502030303020204" pitchFamily="34" charset="0"/>
              </a:rPr>
              <a:t> = True, # optional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</a:t>
            </a:r>
            <a:r>
              <a:rPr lang="en-US" sz="1400" dirty="0" err="1">
                <a:latin typeface="Candara" panose="020E0502030303020204" pitchFamily="34" charset="0"/>
              </a:rPr>
              <a:t>export_map</a:t>
            </a:r>
            <a:r>
              <a:rPr lang="en-US" sz="1400" dirty="0">
                <a:latin typeface="Candara" panose="020E0502030303020204" pitchFamily="34" charset="0"/>
              </a:rPr>
              <a:t> = False, # optional, default = True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    width = 0.35 # optional, default = 0.35</a:t>
            </a:r>
          </a:p>
          <a:p>
            <a:r>
              <a:rPr lang="en-US" sz="1400" dirty="0">
                <a:latin typeface="Candara" panose="020E0502030303020204" pitchFamily="34" charset="0"/>
              </a:rPr>
              <a:t>    )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DFA21-7A92-47C2-BF71-86D0B857EA02}"/>
              </a:ext>
            </a:extLst>
          </p:cNvPr>
          <p:cNvSpPr txBox="1">
            <a:spLocks/>
          </p:cNvSpPr>
          <p:nvPr/>
        </p:nvSpPr>
        <p:spPr>
          <a:xfrm>
            <a:off x="160919" y="756982"/>
            <a:ext cx="12355385" cy="835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Running </a:t>
            </a:r>
            <a:r>
              <a:rPr lang="en-US" sz="2400" b="1" err="1">
                <a:latin typeface="Arial" panose="020B0604020202020204" pitchFamily="34" charset="0"/>
                <a:cs typeface="Arial" panose="020B0604020202020204" pitchFamily="34" charset="0"/>
              </a:rPr>
              <a:t>DynamicPATCH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 using command line: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B0527-C780-4E73-A251-487B157438F6}"/>
              </a:ext>
            </a:extLst>
          </p:cNvPr>
          <p:cNvSpPr/>
          <p:nvPr/>
        </p:nvSpPr>
        <p:spPr>
          <a:xfrm>
            <a:off x="83312" y="-27034"/>
            <a:ext cx="12108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&amp; how to use </a:t>
            </a:r>
            <a:r>
              <a:rPr lang="en-US" sz="3200" b="1" dirty="0" err="1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DynamicPATCH</a:t>
            </a:r>
            <a:endParaRPr lang="en-US" sz="3200" b="1" dirty="0">
              <a:solidFill>
                <a:srgbClr val="C00000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1978B-BD15-4D52-8501-AA778AFF50B5}"/>
              </a:ext>
            </a:extLst>
          </p:cNvPr>
          <p:cNvSpPr txBox="1"/>
          <p:nvPr/>
        </p:nvSpPr>
        <p:spPr>
          <a:xfrm>
            <a:off x="25130" y="6356350"/>
            <a:ext cx="12285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Zhang, Aiyin, Robert Gilmore Pontius Jr, Thomas Mumuni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Bilintoh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Florencia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Sangermano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, and John Rogan. 2025. “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effectLst/>
              </a:rPr>
              <a:t>DynamicPATCH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: Method and Software for Spatially Explicit Dynamic Patch Transition Characterization.” 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effectLst/>
              </a:rPr>
              <a:t>Landscape Ecology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 40 (7): 132.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https://doi.org/10.1007/s10980-025-02120-1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effectLst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227B9B-BC8F-4B66-8CE0-48125FC78E53}"/>
              </a:ext>
            </a:extLst>
          </p:cNvPr>
          <p:cNvSpPr/>
          <p:nvPr/>
        </p:nvSpPr>
        <p:spPr>
          <a:xfrm>
            <a:off x="55690" y="73024"/>
            <a:ext cx="45719" cy="3841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8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123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4CBB89BD7D6445BB7F862D8899099E" ma:contentTypeVersion="18" ma:contentTypeDescription="Create a new document." ma:contentTypeScope="" ma:versionID="2b3be570f71b7d62e7132c7eced99c6f">
  <xsd:schema xmlns:xsd="http://www.w3.org/2001/XMLSchema" xmlns:xs="http://www.w3.org/2001/XMLSchema" xmlns:p="http://schemas.microsoft.com/office/2006/metadata/properties" xmlns:ns3="b70da884-86bb-4f87-bb7b-c87fdd365207" xmlns:ns4="e8ea0c43-9cc4-434f-8c4f-3f30e817cc6a" targetNamespace="http://schemas.microsoft.com/office/2006/metadata/properties" ma:root="true" ma:fieldsID="86625aee51aae36b45c39a0385e969ff" ns3:_="" ns4:_="">
    <xsd:import namespace="b70da884-86bb-4f87-bb7b-c87fdd365207"/>
    <xsd:import namespace="e8ea0c43-9cc4-434f-8c4f-3f30e817cc6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0da884-86bb-4f87-bb7b-c87fdd3652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a0c43-9cc4-434f-8c4f-3f30e817cc6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0da884-86bb-4f87-bb7b-c87fdd36520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DF304E-AA82-4B25-B5D7-ECE40D9A4C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0da884-86bb-4f87-bb7b-c87fdd365207"/>
    <ds:schemaRef ds:uri="e8ea0c43-9cc4-434f-8c4f-3f30e817cc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5F1F33-C96A-467A-97C7-119A58A3A67E}">
  <ds:schemaRefs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b70da884-86bb-4f87-bb7b-c87fdd365207"/>
    <ds:schemaRef ds:uri="http://schemas.microsoft.com/office/infopath/2007/PartnerControls"/>
    <ds:schemaRef ds:uri="e8ea0c43-9cc4-434f-8c4f-3f30e817cc6a"/>
  </ds:schemaRefs>
</ds:datastoreItem>
</file>

<file path=customXml/itemProps3.xml><?xml version="1.0" encoding="utf-8"?>
<ds:datastoreItem xmlns:ds="http://schemas.openxmlformats.org/officeDocument/2006/customXml" ds:itemID="{4B847C2B-ACB2-4F0E-BBEB-402672B88F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22830</TotalTime>
  <Words>1844</Words>
  <Application>Microsoft Office PowerPoint</Application>
  <PresentationFormat>Widescreen</PresentationFormat>
  <Paragraphs>332</Paragraphs>
  <Slides>24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Candara</vt:lpstr>
      <vt:lpstr>Century Gothic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Zhang, Aiyin</dc:creator>
  <cp:lastModifiedBy>Zhang, Aiyin</cp:lastModifiedBy>
  <cp:revision>46</cp:revision>
  <dcterms:created xsi:type="dcterms:W3CDTF">2024-09-17T18:30:16Z</dcterms:created>
  <dcterms:modified xsi:type="dcterms:W3CDTF">2026-09-28T21:56:22Z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0x010100DB4CBB89BD7D6445BB7F862D8899099E</vt:lpwstr>
  </property>
</Properties>
</file>